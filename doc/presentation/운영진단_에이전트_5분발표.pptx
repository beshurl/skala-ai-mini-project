
<file path=[Content_Types].xml><?xml version="1.0" encoding="utf-8"?>
<Types xmlns="http://schemas.openxmlformats.org/package/2006/content-types">
  <Default ContentType="application/x-fontdata" Extension="fntdata"/>
  <Default ContentType="image/jpeg" Extension="jpe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4"/>
  </p:notes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Noto Sans Kr Bold" charset="1" panose="020B0200000000000000"/>
      <p:regular r:id="rId17"/>
    </p:embeddedFont>
    <p:embeddedFont>
      <p:font typeface="Noto Sans Kr" charset="1" panose="020B020000000000000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notesMasters/notesMaster1.xml" Type="http://schemas.openxmlformats.org/officeDocument/2006/relationships/notesMaster"/><Relationship Id="rId15" Target="theme/theme2.xml" Type="http://schemas.openxmlformats.org/officeDocument/2006/relationships/theme"/><Relationship Id="rId16" Target="notesSlides/notesSlide1.xml" Type="http://schemas.openxmlformats.org/officeDocument/2006/relationships/notesSlide"/><Relationship Id="rId17" Target="fonts/font17.fntdata" Type="http://schemas.openxmlformats.org/officeDocument/2006/relationships/font"/><Relationship Id="rId18" Target="fonts/font18.fntdata" Type="http://schemas.openxmlformats.org/officeDocument/2006/relationships/font"/><Relationship Id="rId19" Target="notesSlides/notesSlide2.xml" Type="http://schemas.openxmlformats.org/officeDocument/2006/relationships/notesSlide"/><Relationship Id="rId2" Target="presProps.xml" Type="http://schemas.openxmlformats.org/officeDocument/2006/relationships/presProps"/><Relationship Id="rId20" Target="notesSlides/notesSlide3.xml" Type="http://schemas.openxmlformats.org/officeDocument/2006/relationships/notesSlide"/><Relationship Id="rId21" Target="notesSlides/notesSlide4.xml" Type="http://schemas.openxmlformats.org/officeDocument/2006/relationships/notesSlide"/><Relationship Id="rId22" Target="notesSlides/notesSlide5.xml" Type="http://schemas.openxmlformats.org/officeDocument/2006/relationships/notesSlide"/><Relationship Id="rId23" Target="notesSlides/notesSlide6.xml" Type="http://schemas.openxmlformats.org/officeDocument/2006/relationships/notesSlide"/><Relationship Id="rId24" Target="notesSlides/notesSlide7.xml" Type="http://schemas.openxmlformats.org/officeDocument/2006/relationships/notesSlide"/><Relationship Id="rId25" Target="notesSlides/notesSlide8.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가설 기반 운영 진단 에이전트</a:t>
            </a:r>
          </a:p>
          <a:p>
            <a:r>
              <a:rPr lang="en-US"/>
              <a:t>SKALA 광주 2반 G066 정준용</a:t>
            </a:r>
          </a:p>
          <a:p>
            <a:r>
              <a:rPr lang="en-US"/>
              <a:t>발표 시간: 20초 / 시작 0초 / 종료 20초</a:t>
            </a:r>
          </a:p>
          <a:p>
            <a:r>
              <a:rPr lang="en-US"/>
              <a:t/>
            </a:r>
          </a:p>
          <a:p>
            <a:r>
              <a:rPr lang="en-US"/>
              <a:t>발표 멘트</a:t>
            </a:r>
          </a:p>
          <a:p>
            <a:r>
              <a:rPr lang="en-US"/>
              <a:t>안녕하세요. SKALA 광주 2반 G066 정준용입니다. 장애 지표와 로그를 조회하고 추가 관측으로 가설을 비교하는 에이전트를 개선했습니다. 불필요한 호출 차단과 근거 검증을 코드 중심으로 설명하겠습니다.</a:t>
            </a:r>
          </a:p>
          <a:p>
            <a:r>
              <a:rPr lang="en-US"/>
              <a:t/>
            </a:r>
          </a:p>
          <a:p>
            <a:r>
              <a:rPr lang="en-US"/>
              <a:t>보여줄 코드</a:t>
            </a:r>
          </a:p>
          <a:p>
            <a:r>
              <a:rPr lang="en-US"/>
              <a:t/>
            </a:r>
          </a:p>
          <a:p>
            <a:r>
              <a:rPr lang="en-US"/>
              <a:t>원본 자료</a:t>
            </a:r>
          </a:p>
          <a:p>
            <a:r>
              <a:rPr lang="en-US"/>
              <a:t>/Users/beshu/Downloads/all_total_vue_student/README.md</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LLM 호출 전 입력 검사</a:t>
            </a:r>
          </a:p>
          <a:p>
            <a:r>
              <a:rPr lang="en-US"/>
              <a:t>SKALA 광주 2반 G066 정준용</a:t>
            </a:r>
          </a:p>
          <a:p>
            <a:r>
              <a:rPr lang="en-US"/>
              <a:t>발표 시간: 45초 / 시작 20초 / 종료 65초</a:t>
            </a:r>
          </a:p>
          <a:p>
            <a:r>
              <a:rPr lang="en-US"/>
              <a:t/>
            </a:r>
          </a:p>
          <a:p>
            <a:r>
              <a:rPr lang="en-US"/>
              <a:t>발표 멘트</a:t>
            </a:r>
          </a:p>
          <a:p>
            <a:r>
              <a:rPr lang="en-US"/>
              <a:t>기존에는 무의미한 입력도 모델 경로에 진입하고, CPU 경고만으로 원인을 설명할 수 있었습니다. 첫 개선은 server.py 217행의 validate_input입니다. 문자 정규화와 반복 입력, 운영 관련성을 로컬 규칙으로 확인합니다. 실패하면 227행에서 반환하므로 232행의 그래프와 대화 저장에 진입하지 않습니다. 시스템명과 맥락이 있는 짧은 답변은 보존합니다. 입력 검증 자체에는 LLM과 임베딩을 사용하지 않습니다.</a:t>
            </a:r>
          </a:p>
          <a:p>
            <a:r>
              <a:rPr lang="en-US"/>
              <a:t/>
            </a:r>
          </a:p>
          <a:p>
            <a:r>
              <a:rPr lang="en-US"/>
              <a:t>보여줄 코드</a:t>
            </a:r>
          </a:p>
          <a:p>
            <a:r>
              <a:rPr lang="en-US"/>
              <a:t>server.py:217 (217~232행) 검사와 조기 반환이 그래프 실행보다 앞에 위치</a:t>
            </a:r>
          </a:p>
          <a:p>
            <a:r>
              <a:rPr lang="en-US"/>
              <a:t>https://github.com/beshurl/skala-ai-mini-project/blob/main/server.py#L217</a:t>
            </a:r>
          </a:p>
          <a:p>
            <a:r>
              <a:rPr lang="en-US"/>
              <a:t>agent/input_validation.py:19 (19~41행) 로컬 거절 규칙과 맥락 있는 답변 허용</a:t>
            </a:r>
          </a:p>
          <a:p>
            <a:r>
              <a:rPr lang="en-US"/>
              <a:t>https://github.com/beshurl/skala-ai-mini-project/blob/main/agent/input_validation.py#L19</a:t>
            </a:r>
          </a:p>
          <a:p>
            <a:r>
              <a:rPr lang="en-US"/>
              <a:t/>
            </a:r>
          </a:p>
          <a:p>
            <a:r>
              <a:rPr lang="en-US"/>
              <a:t>원본 자료</a:t>
            </a:r>
          </a:p>
          <a:p>
            <a:r>
              <a:rPr lang="en-US"/>
              <a:t>/Users/beshu/Downloads/all_total_vue_student/README.md</a:t>
            </a:r>
          </a:p>
          <a:p>
            <a:r>
              <a:rPr lang="en-US"/>
              <a:t>/Users/beshu/Downloads/all_total_vue_student/artifacts/input_validation_verification.json</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관측을 바탕으로 근거 수집</a:t>
            </a:r>
          </a:p>
          <a:p>
            <a:r>
              <a:rPr lang="en-US"/>
              <a:t>SKALA 광주 2반 G066 정준용</a:t>
            </a:r>
          </a:p>
          <a:p>
            <a:r>
              <a:rPr lang="en-US"/>
              <a:t>발표 시간: 45초 / 시작 65초 / 종료 110초</a:t>
            </a:r>
          </a:p>
          <a:p>
            <a:r>
              <a:rPr lang="en-US"/>
              <a:t/>
            </a:r>
          </a:p>
          <a:p>
            <a:r>
              <a:rPr lang="en-US"/>
              <a:t>발표 멘트</a:t>
            </a:r>
          </a:p>
          <a:p>
            <a:r>
              <a:rPr lang="en-US"/>
              <a:t>Supervisor 역할의 그래프는 지표와 로그, 런북 서브그래프를 조정합니다. graph.py 129행의 asyncio.gather로 지표와 로그를 병렬 조회하고, 관측을 포함한 질의로 133행에서 런북을 검색합니다. MCP는 조회 Tool, 런북 Resource, 조사 절차 Prompt를 제공합니다. 매뉴얼 여섯 종은 FastEmbed로 임베딩하고 SQLite에 저장한 벡터를 코사인 유사도로 검색합니다. 관련 문서 세 개까지 원문과 대조해 근거에 넣습니다. 외부 연결은 공통 의존성으로 주입합니다.</a:t>
            </a:r>
          </a:p>
          <a:p>
            <a:r>
              <a:rPr lang="en-US"/>
              <a:t/>
            </a:r>
          </a:p>
          <a:p>
            <a:r>
              <a:rPr lang="en-US"/>
              <a:t>보여줄 코드</a:t>
            </a:r>
          </a:p>
          <a:p>
            <a:r>
              <a:rPr lang="en-US"/>
              <a:t>agent/graph.py:129 (129~134행) 지표·로그 병렬 조회 후 관측 기반 런북 검색</a:t>
            </a:r>
          </a:p>
          <a:p>
            <a:r>
              <a:rPr lang="en-US"/>
              <a:t>https://github.com/beshurl/skala-ai-mini-project/blob/main/agent/graph.py#L129</a:t>
            </a:r>
          </a:p>
          <a:p>
            <a:r>
              <a:rPr lang="en-US"/>
              <a:t>mcp_server.py:23 (23~79행) Tool·Resource·Prompt 표준 인터페이스</a:t>
            </a:r>
          </a:p>
          <a:p>
            <a:r>
              <a:rPr lang="en-US"/>
              <a:t>https://github.com/beshurl/skala-ai-mini-project/blob/main/mcp_server.py#L23</a:t>
            </a:r>
          </a:p>
          <a:p>
            <a:r>
              <a:rPr lang="en-US"/>
              <a:t>agent/retrieval.py:30 (30~60행) SQLite 벡터 인덱스와 코사인 유사도 검색</a:t>
            </a:r>
          </a:p>
          <a:p>
            <a:r>
              <a:rPr lang="en-US"/>
              <a:t>https://github.com/beshurl/skala-ai-mini-project/blob/main/agent/retrieval.py#L30</a:t>
            </a:r>
          </a:p>
          <a:p>
            <a:r>
              <a:rPr lang="en-US"/>
              <a:t>agent/deps.py:1 (1~15행) 모델·도구·검색기·설정 의존성 주입</a:t>
            </a:r>
          </a:p>
          <a:p>
            <a:r>
              <a:rPr lang="en-US"/>
              <a:t>https://github.com/beshurl/skala-ai-mini-project/blob/main/agent/deps.py#L1</a:t>
            </a:r>
          </a:p>
          <a:p>
            <a:r>
              <a:rPr lang="en-US"/>
              <a:t/>
            </a:r>
          </a:p>
          <a:p>
            <a:r>
              <a:rPr lang="en-US"/>
              <a:t>원본 자료</a:t>
            </a:r>
          </a:p>
          <a:p>
            <a:r>
              <a:rPr lang="en-US"/>
              <a:t>/Users/beshu/Downloads/all_total_vue_student/README.md</a:t>
            </a:r>
          </a:p>
          <a:p>
            <a:r>
              <a:rPr lang="en-US"/>
              <a:t>/Users/beshu/Downloads/all_total_vue_student/data/runbooks</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반증할 질문을 선택하는 추가 조사</a:t>
            </a:r>
          </a:p>
          <a:p>
            <a:r>
              <a:rPr lang="en-US"/>
              <a:t>SKALA 광주 2반 G066 정준용</a:t>
            </a:r>
          </a:p>
          <a:p>
            <a:r>
              <a:rPr lang="en-US"/>
              <a:t>발표 시간: 45초 / 시작 110초 / 종료 155초</a:t>
            </a:r>
          </a:p>
          <a:p>
            <a:r>
              <a:rPr lang="en-US"/>
              <a:t/>
            </a:r>
          </a:p>
          <a:p>
            <a:r>
              <a:rPr lang="en-US"/>
              <a:t>발표 멘트</a:t>
            </a:r>
          </a:p>
          <a:p>
            <a:r>
              <a:rPr lang="en-US"/>
              <a:t>추가 조사는 계획, 관측, 판정 노드를 반복합니다. 화면의 조건부 간선은 판정이 끝났으면 분석으로 이동하고, 조사 중이면 다시 계획하도록 연결합니다. 실제 LLM은 아직 수행하지 않은 허용 질문 하나를 선택합니다. 지지와 반증 조건은 조회 전에 기록하고, 코드는 대상과 수치, 최초 지표와 같은 5분 구간을 검사합니다. 두 종류 관측이 한 가설을 지지하고 경쟁 가설이 반증되면 종료하며 전체 조회는 최대 네 번입니다.</a:t>
            </a:r>
          </a:p>
          <a:p>
            <a:r>
              <a:rPr lang="en-US"/>
              <a:t/>
            </a:r>
          </a:p>
          <a:p>
            <a:r>
              <a:rPr lang="en-US"/>
              <a:t>보여줄 코드</a:t>
            </a:r>
          </a:p>
          <a:p>
            <a:r>
              <a:rPr lang="en-US"/>
              <a:t>agent/graph.py:189 (189~191행) 판정 후 종료 또는 계획 노드 복귀</a:t>
            </a:r>
          </a:p>
          <a:p>
            <a:r>
              <a:rPr lang="en-US"/>
              <a:t>https://github.com/beshurl/skala-ai-mini-project/blob/main/agent/graph.py#L189</a:t>
            </a:r>
          </a:p>
          <a:p>
            <a:r>
              <a:rPr lang="en-US"/>
              <a:t>agent/investigation.py:25 (25~38행) 조회 전 지지·반증 조건</a:t>
            </a:r>
          </a:p>
          <a:p>
            <a:r>
              <a:rPr lang="en-US"/>
              <a:t>https://github.com/beshurl/skala-ai-mini-project/blob/main/agent/investigation.py#L25</a:t>
            </a:r>
          </a:p>
          <a:p>
            <a:r>
              <a:rPr lang="en-US"/>
              <a:t>agent/investigation.py:134 (134~144행) 조사 종료 조건과 4회 한도</a:t>
            </a:r>
          </a:p>
          <a:p>
            <a:r>
              <a:rPr lang="en-US"/>
              <a:t>https://github.com/beshurl/skala-ai-mini-project/blob/main/agent/investigation.py#L134</a:t>
            </a:r>
          </a:p>
          <a:p>
            <a:r>
              <a:rPr lang="en-US"/>
              <a:t>agent/investigation.py:154 (154~170행) 허용 질문 enum을 사용하는 실제 LLM 선택</a:t>
            </a:r>
          </a:p>
          <a:p>
            <a:r>
              <a:rPr lang="en-US"/>
              <a:t>https://github.com/beshurl/skala-ai-mini-project/blob/main/agent/investigation.py#L154</a:t>
            </a:r>
          </a:p>
          <a:p>
            <a:r>
              <a:rPr lang="en-US"/>
              <a:t/>
            </a:r>
          </a:p>
          <a:p>
            <a:r>
              <a:rPr lang="en-US"/>
              <a:t>원본 자료</a:t>
            </a:r>
          </a:p>
          <a:p>
            <a:r>
              <a:rPr lang="en-US"/>
              <a:t>/Users/beshu/Downloads/all_total_vue_student/README.md</a:t>
            </a:r>
          </a:p>
          <a:p>
            <a:r>
              <a:rPr lang="en-US"/>
              <a:t>/Users/beshu/Downloads/all_total_vue_student/artifacts/investigation_evaluation.json</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추가 관측으로 달라진 판단</a:t>
            </a:r>
          </a:p>
          <a:p>
            <a:r>
              <a:rPr lang="en-US"/>
              <a:t>SKALA 광주 2반 G066 정준용</a:t>
            </a:r>
          </a:p>
          <a:p>
            <a:r>
              <a:rPr lang="en-US"/>
              <a:t>발표 시간: 40초 / 시작 155초 / 종료 195초</a:t>
            </a:r>
          </a:p>
          <a:p>
            <a:r>
              <a:rPr lang="en-US"/>
              <a:t/>
            </a:r>
          </a:p>
          <a:p>
            <a:r>
              <a:rPr lang="en-US"/>
              <a:t>발표 멘트</a:t>
            </a:r>
          </a:p>
          <a:p>
            <a:r>
              <a:rPr lang="en-US"/>
              <a:t>숫자로 다시 구성한 이 사례는 실제 모델로 실행해 저장한 요청량 사례입니다. 처음 CPU 91%와 배치 경고는 같지만 배치의 CPU 기여가 5%여서 배치 가설을 반증했습니다. 요청 처리 기여 88%와 요청량 3.2배가 함께 확인돼 요청량 가설을 교차 지지했습니다. investigation.py는 지지와 반증 근거를 쌓아 상태를 갱신합니다. 프론트에서는 조사 이유와 사전 조건, 판단 전후를 볼 수 있습니다. 관측은 합성 데이터이며 교차 지지가 실제 인과관계 확정을 뜻하지는 않습니다.</a:t>
            </a:r>
          </a:p>
          <a:p>
            <a:r>
              <a:rPr lang="en-US"/>
              <a:t/>
            </a:r>
          </a:p>
          <a:p>
            <a:r>
              <a:rPr lang="en-US"/>
              <a:t>보여줄 코드</a:t>
            </a:r>
          </a:p>
          <a:p>
            <a:r>
              <a:rPr lang="en-US"/>
              <a:t>agent/investigation.py:285 (285~303행) 관측에 따라 지지·반증 근거를 쌓고 상태 변경</a:t>
            </a:r>
          </a:p>
          <a:p>
            <a:r>
              <a:rPr lang="en-US"/>
              <a:t>https://github.com/beshurl/skala-ai-mini-project/blob/main/agent/investigation.py#L285</a:t>
            </a:r>
          </a:p>
          <a:p>
            <a:r>
              <a:rPr lang="en-US"/>
              <a:t>agent/investigation.py:25 (25~38행) CPU 기여 70% 지지와 15% 이하 반증 조건</a:t>
            </a:r>
          </a:p>
          <a:p>
            <a:r>
              <a:rPr lang="en-US"/>
              <a:t>https://github.com/beshurl/skala-ai-mini-project/blob/main/agent/investigation.py#L25</a:t>
            </a:r>
          </a:p>
          <a:p>
            <a:r>
              <a:rPr lang="en-US"/>
              <a:t/>
            </a:r>
          </a:p>
          <a:p>
            <a:r>
              <a:rPr lang="en-US"/>
              <a:t>원본 자료</a:t>
            </a:r>
          </a:p>
          <a:p>
            <a:r>
              <a:rPr lang="en-US"/>
              <a:t>/Users/beshu/Downloads/all_total_vue_student/README.md</a:t>
            </a:r>
          </a:p>
          <a:p>
            <a:r>
              <a:rPr lang="en-US"/>
              <a:t>/Users/beshu/Downloads/all_total_vue_student/artifacts/screenshots/investigation-traffic-desktop.png</a:t>
            </a:r>
          </a:p>
          <a:p>
            <a:r>
              <a:rPr lang="en-US"/>
              <a:t>/Users/beshu/Downloads/all_total_vue_student/artifacts/investigation_evaluation.json</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코드 검증과 별도 의미 평가</a:t>
            </a:r>
          </a:p>
          <a:p>
            <a:r>
              <a:rPr lang="en-US"/>
              <a:t>SKALA 광주 2반 G066 정준용</a:t>
            </a:r>
          </a:p>
          <a:p>
            <a:r>
              <a:rPr lang="en-US"/>
              <a:t>발표 시간: 35초 / 시작 195초 / 종료 230초</a:t>
            </a:r>
          </a:p>
          <a:p>
            <a:r>
              <a:rPr lang="en-US"/>
              <a:t/>
            </a:r>
          </a:p>
          <a:p>
            <a:r>
              <a:rPr lang="en-US"/>
              <a:t>발표 멘트</a:t>
            </a:r>
          </a:p>
          <a:p>
            <a:r>
              <a:rPr lang="en-US"/>
              <a:t>LCEL로 작성한 결과는 validation.py에서 조회 사실과 정확히 비교합니다. 수치나 근거 ID, 조치 조건이 틀리면 다시 쓰고, 세 번 실패하면 확인 가능한 관측만 제공합니다. Judge는 별도 실제 모델로 답변 품질과 원인 주장을 대조합니다. 원인 모순을 발견해 점수 상한을 적용해도 원래 점수를 보존합니다. LangSmith에서는 실행과 평가 점수를 원격으로 재조회합니다. 매 요청의 최종 통과와 가설 판정은 코드가 담당합니다.</a:t>
            </a:r>
          </a:p>
          <a:p>
            <a:r>
              <a:rPr lang="en-US"/>
              <a:t/>
            </a:r>
          </a:p>
          <a:p>
            <a:r>
              <a:rPr lang="en-US"/>
              <a:t>보여줄 코드</a:t>
            </a:r>
          </a:p>
          <a:p>
            <a:r>
              <a:rPr lang="en-US"/>
              <a:t>agent/validation.py:25 (25~39행) 조회 사실 일치와 허용된 출처·조치 후보 검사</a:t>
            </a:r>
          </a:p>
          <a:p>
            <a:r>
              <a:rPr lang="en-US"/>
              <a:t>https://github.com/beshurl/skala-ai-mini-project/blob/main/agent/validation.py#L25</a:t>
            </a:r>
          </a:p>
          <a:p>
            <a:r>
              <a:rPr lang="en-US"/>
              <a:t>agent/judge.py:85 (85~102행) 별도 Judge와 원래 점수 보존</a:t>
            </a:r>
          </a:p>
          <a:p>
            <a:r>
              <a:rPr lang="en-US"/>
              <a:t>https://github.com/beshurl/skala-ai-mini-project/blob/main/agent/judge.py#L85</a:t>
            </a:r>
          </a:p>
          <a:p>
            <a:r>
              <a:rPr lang="en-US"/>
              <a:t/>
            </a:r>
          </a:p>
          <a:p>
            <a:r>
              <a:rPr lang="en-US"/>
              <a:t>원본 자료</a:t>
            </a:r>
          </a:p>
          <a:p>
            <a:r>
              <a:rPr lang="en-US"/>
              <a:t>/Users/beshu/Downloads/all_total_vue_student/README.md</a:t>
            </a:r>
          </a:p>
          <a:p>
            <a:r>
              <a:rPr lang="en-US"/>
              <a:t>/Users/beshu/Downloads/all_total_vue_student/agent/observability.py</a:t>
            </a:r>
          </a:p>
          <a:p>
            <a:r>
              <a:rPr lang="en-US"/>
              <a:t>/Users/beshu/Downloads/all_total_vue_student/agent/reporting.py</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서로 다른 검증 범위를 구분</a:t>
            </a:r>
          </a:p>
          <a:p>
            <a:r>
              <a:rPr lang="en-US"/>
              <a:t>SKALA 광주 2반 G066 정준용</a:t>
            </a:r>
          </a:p>
          <a:p>
            <a:r>
              <a:rPr lang="en-US"/>
              <a:t>발표 시간: 35초 / 시작 230초 / 종료 265초</a:t>
            </a:r>
          </a:p>
          <a:p>
            <a:r>
              <a:rPr lang="en-US"/>
              <a:t/>
            </a:r>
          </a:p>
          <a:p>
            <a:r>
              <a:rPr lang="en-US"/>
              <a:t>발표 멘트</a:t>
            </a:r>
          </a:p>
          <a:p>
            <a:r>
              <a:rPr lang="en-US"/>
              <a:t>표는 10월 21일 실행 기록입니다. 입력 검증을 포함한 테스트 99개가 통과했고, 실제 Ollama 연결 서버의 거절 다섯 건은 생성 0토큰과 원격 LLM·MCP 호출 부재를 확인했습니다. 이전 가설 조사 평가는 기능 여섯 건을 통과했지만 Judge의 릴리스 답변 오판으로 종합 평가는 다섯 건 통과입니다. 원래 점수를 유지했고 원격 실행 여섯 건과 평가 점수 서른 개도 재조회했습니다. 입력 검증 기록과 이전 모델 평가의 범위를 구분했습니다.</a:t>
            </a:r>
          </a:p>
          <a:p>
            <a:r>
              <a:rPr lang="en-US"/>
              <a:t/>
            </a:r>
          </a:p>
          <a:p>
            <a:r>
              <a:rPr lang="en-US"/>
              <a:t>보여줄 코드</a:t>
            </a:r>
          </a:p>
          <a:p>
            <a:r>
              <a:rPr lang="en-US"/>
              <a:t>tests/test_api.py:129 (129~155행) 거절 시 그래프 미진입·토큰 0·도구 미호출·미저장 검사</a:t>
            </a:r>
          </a:p>
          <a:p>
            <a:r>
              <a:rPr lang="en-US"/>
              <a:t>https://github.com/beshurl/skala-ai-mini-project/blob/main/tests/test_api.py#L129</a:t>
            </a:r>
          </a:p>
          <a:p>
            <a:r>
              <a:rPr lang="en-US"/>
              <a:t/>
            </a:r>
          </a:p>
          <a:p>
            <a:r>
              <a:rPr lang="en-US"/>
              <a:t>원본 자료</a:t>
            </a:r>
          </a:p>
          <a:p>
            <a:r>
              <a:rPr lang="en-US"/>
              <a:t>/Users/beshu/Downloads/all_total_vue_student/README.md</a:t>
            </a:r>
          </a:p>
          <a:p>
            <a:r>
              <a:rPr lang="en-US"/>
              <a:t>/Users/beshu/Downloads/all_total_vue_student/artifacts/input_validation_verification.json</a:t>
            </a:r>
          </a:p>
          <a:p>
            <a:r>
              <a:rPr lang="en-US"/>
              <a:t>/Users/beshu/Downloads/all_total_vue_student/artifacts/investigation_evaluation.json</a:t>
            </a:r>
          </a:p>
          <a:p>
            <a:r>
              <a:rPr lang="en-US"/>
              <a:t>/Users/beshu/Downloads/all_total_vue_student/artifacts/cleanup_verification.json</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판단이 달라진 이유를 기록</a:t>
            </a:r>
          </a:p>
          <a:p>
            <a:r>
              <a:rPr lang="en-US"/>
              <a:t>SKALA 광주 2반 G066 정준용</a:t>
            </a:r>
          </a:p>
          <a:p>
            <a:r>
              <a:rPr lang="en-US"/>
              <a:t>발표 시간: 35초 / 시작 265초 / 종료 300초</a:t>
            </a:r>
          </a:p>
          <a:p>
            <a:r>
              <a:rPr lang="en-US"/>
              <a:t/>
            </a:r>
          </a:p>
          <a:p>
            <a:r>
              <a:rPr lang="en-US"/>
              <a:t>발표 멘트</a:t>
            </a:r>
          </a:p>
          <a:p>
            <a:r>
              <a:rPr lang="en-US"/>
              <a:t>자연스러운 설명만으로 진단을 신뢰하기는 어려웠습니다. 판단 조건과 근거를 코드로 남기자 결론이 달라진 이유를 설명할 수 있었습니다. 다만 입력 규칙의 오탐과 미탐, CPU 세 가설과 합성 관측이라는 범위, Judge의 오류가 남습니다. 다음에는 실제 모니터링을 연결하고 사람과 다른 계열 Judge로 평가를 보완하겠습니다. 차단한 요청의 0토큰과 전체 비용 절감률도 구분해 같은 조건에서 비용을 계측하겠습니다.</a:t>
            </a:r>
          </a:p>
          <a:p>
            <a:r>
              <a:rPr lang="en-US"/>
              <a:t/>
            </a:r>
          </a:p>
          <a:p>
            <a:r>
              <a:rPr lang="en-US"/>
              <a:t>보여줄 코드</a:t>
            </a:r>
          </a:p>
          <a:p>
            <a:r>
              <a:rPr lang="en-US"/>
              <a:t/>
            </a:r>
          </a:p>
          <a:p>
            <a:r>
              <a:rPr lang="en-US"/>
              <a:t>원본 자료</a:t>
            </a:r>
          </a:p>
          <a:p>
            <a:r>
              <a:rPr lang="en-US"/>
              <a:t>/Users/beshu/Downloads/all_total_vue_student/README.md</a:t>
            </a:r>
          </a:p>
          <a:p>
            <a:r>
              <a:rPr lang="en-US"/>
              <a:t>/Users/beshu/Downloads/all_total_vue_student/agent/input_validation.py</a:t>
            </a:r>
          </a:p>
          <a:p>
            <a:r>
              <a:rPr lang="en-US"/>
              <a:t>/Users/beshu/Downloads/all_total_vue_student/agent/investigation.py</a:t>
            </a:r>
          </a:p>
          <a:p>
            <a:r>
              <a:rPr lang="en-US"/>
              <a:t>/Users/beshu/Downloads/all_total_vue_student/artifacts/input_validation_verification.json</a:t>
            </a:r>
          </a:p>
          <a:p>
            <a:r>
              <a:rPr lang="en-US"/>
              <a:t/>
            </a:r>
          </a:p>
          <a:p>
            <a:r>
              <a:rPr lang="en-US"/>
              <a:t>검증 범위</a:t>
            </a:r>
          </a:p>
          <a:p>
            <a:r>
              <a:rPr lang="en-US"/>
              <a:t>2026-10-21 보존 기록. 입력 거절 검증과 입력 검사 도입 전 가설 조사 평가를 구분. 이번 디자인 작업에서 실제 평가 재실행 없음. 실제 Ollama 계획·작성 qwen3.5:2b, 별도 Judge qwen3:8b. 합성 관측이며 교차 지지는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slide1.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PROJECT</a:t>
            </a:r>
          </a:p>
        </p:txBody>
      </p:sp>
      <p:sp>
        <p:nvSpPr>
          <p:cNvPr name="AutoShape 3" id="3"/>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4" id="4"/>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코드 중심 5분 발표</a:t>
            </a:r>
          </a:p>
        </p:txBody>
      </p:sp>
      <p:sp>
        <p:nvSpPr>
          <p:cNvPr name="TextBox 5" id="5"/>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01</a:t>
            </a:r>
          </a:p>
        </p:txBody>
      </p:sp>
      <p:sp>
        <p:nvSpPr>
          <p:cNvPr name="TextBox 6" id="6"/>
          <p:cNvSpPr txBox="true"/>
          <p:nvPr/>
        </p:nvSpPr>
        <p:spPr>
          <a:xfrm rot="0">
            <a:off x="914400" y="1809750"/>
            <a:ext cx="16459200" cy="2790879"/>
          </a:xfrm>
          <a:prstGeom prst="rect">
            <a:avLst/>
          </a:prstGeom>
        </p:spPr>
        <p:txBody>
          <a:bodyPr anchor="t" rtlCol="false" tIns="0" lIns="0" bIns="0" rIns="0">
            <a:spAutoFit/>
          </a:bodyPr>
          <a:lstStyle/>
          <a:p>
            <a:pPr algn="l">
              <a:lnSpc>
                <a:spcPts val="11070"/>
              </a:lnSpc>
            </a:pPr>
            <a:r>
              <a:rPr lang="en-US" sz="9225" b="true">
                <a:solidFill>
                  <a:srgbClr val="142338"/>
                </a:solidFill>
                <a:latin typeface="Noto Sans Kr Bold"/>
                <a:ea typeface="Noto Sans Kr Bold"/>
                <a:cs typeface="Noto Sans Kr Bold"/>
                <a:sym typeface="Noto Sans Kr Bold"/>
              </a:rPr>
              <a:t>가설 기반</a:t>
            </a:r>
          </a:p>
          <a:p>
            <a:pPr algn="l">
              <a:lnSpc>
                <a:spcPts val="11070"/>
              </a:lnSpc>
            </a:pPr>
            <a:r>
              <a:rPr lang="en-US" sz="9225" b="true">
                <a:solidFill>
                  <a:srgbClr val="142338"/>
                </a:solidFill>
                <a:latin typeface="Noto Sans Kr Bold"/>
                <a:ea typeface="Noto Sans Kr Bold"/>
                <a:cs typeface="Noto Sans Kr Bold"/>
                <a:sym typeface="Noto Sans Kr Bold"/>
              </a:rPr>
              <a:t>운영 진단 에이전트</a:t>
            </a:r>
          </a:p>
        </p:txBody>
      </p:sp>
      <p:sp>
        <p:nvSpPr>
          <p:cNvPr name="TextBox 7" id="7"/>
          <p:cNvSpPr txBox="true"/>
          <p:nvPr/>
        </p:nvSpPr>
        <p:spPr>
          <a:xfrm rot="0">
            <a:off x="971550" y="5457825"/>
            <a:ext cx="15573375" cy="666750"/>
          </a:xfrm>
          <a:prstGeom prst="rect">
            <a:avLst/>
          </a:prstGeom>
        </p:spPr>
        <p:txBody>
          <a:bodyPr anchor="t" rtlCol="false" tIns="0" lIns="0" bIns="0" rIns="0">
            <a:spAutoFit/>
          </a:bodyPr>
          <a:lstStyle/>
          <a:p>
            <a:pPr algn="l">
              <a:lnSpc>
                <a:spcPts val="5265"/>
              </a:lnSpc>
            </a:pPr>
            <a:r>
              <a:rPr lang="en-US" sz="4387" b="true">
                <a:solidFill>
                  <a:srgbClr val="2864DC"/>
                </a:solidFill>
                <a:latin typeface="Noto Sans Kr Bold"/>
                <a:ea typeface="Noto Sans Kr Bold"/>
                <a:cs typeface="Noto Sans Kr Bold"/>
                <a:sym typeface="Noto Sans Kr Bold"/>
              </a:rPr>
              <a:t>호출 전 차단에서 반증 조사까지</a:t>
            </a:r>
          </a:p>
        </p:txBody>
      </p:sp>
      <p:sp>
        <p:nvSpPr>
          <p:cNvPr name="TextBox 8" id="8"/>
          <p:cNvSpPr txBox="true"/>
          <p:nvPr/>
        </p:nvSpPr>
        <p:spPr>
          <a:xfrm rot="0">
            <a:off x="971550" y="7053263"/>
            <a:ext cx="15573375" cy="514350"/>
          </a:xfrm>
          <a:prstGeom prst="rect">
            <a:avLst/>
          </a:prstGeom>
        </p:spPr>
        <p:txBody>
          <a:bodyPr anchor="t" rtlCol="false" tIns="0" lIns="0" bIns="0" rIns="0">
            <a:spAutoFit/>
          </a:bodyPr>
          <a:lstStyle/>
          <a:p>
            <a:pPr algn="l">
              <a:lnSpc>
                <a:spcPts val="4185"/>
              </a:lnSpc>
            </a:pPr>
            <a:r>
              <a:rPr lang="en-US" sz="3487">
                <a:solidFill>
                  <a:srgbClr val="142338"/>
                </a:solidFill>
                <a:latin typeface="Noto Sans Kr"/>
                <a:ea typeface="Noto Sans Kr"/>
                <a:cs typeface="Noto Sans Kr"/>
                <a:sym typeface="Noto Sans Kr"/>
              </a:rPr>
              <a:t>SKALA 광주 2반 · G066 · 정준용</a:t>
            </a:r>
          </a:p>
        </p:txBody>
      </p:sp>
      <p:sp>
        <p:nvSpPr>
          <p:cNvPr name="TextBox 9" id="9"/>
          <p:cNvSpPr txBox="true"/>
          <p:nvPr/>
        </p:nvSpPr>
        <p:spPr>
          <a:xfrm rot="0">
            <a:off x="971550" y="8405813"/>
            <a:ext cx="4286250" cy="504852"/>
          </a:xfrm>
          <a:prstGeom prst="rect">
            <a:avLst/>
          </a:prstGeom>
        </p:spPr>
        <p:txBody>
          <a:bodyPr anchor="t" rtlCol="false" tIns="0" lIns="0" bIns="0" rIns="0">
            <a:spAutoFit/>
          </a:bodyPr>
          <a:lstStyle/>
          <a:p>
            <a:pPr algn="l">
              <a:lnSpc>
                <a:spcPts val="3915"/>
              </a:lnSpc>
            </a:pPr>
            <a:r>
              <a:rPr lang="en-US" sz="3262">
                <a:solidFill>
                  <a:srgbClr val="526176"/>
                </a:solidFill>
                <a:latin typeface="Noto Sans Kr"/>
                <a:ea typeface="Noto Sans Kr"/>
                <a:cs typeface="Noto Sans Kr"/>
                <a:sym typeface="Noto Sans Kr"/>
              </a:rPr>
              <a:t>입력 검사</a:t>
            </a:r>
          </a:p>
        </p:txBody>
      </p:sp>
      <p:sp>
        <p:nvSpPr>
          <p:cNvPr name="TextBox 10" id="10"/>
          <p:cNvSpPr txBox="true"/>
          <p:nvPr/>
        </p:nvSpPr>
        <p:spPr>
          <a:xfrm rot="0">
            <a:off x="6143625" y="8405813"/>
            <a:ext cx="4286250" cy="504852"/>
          </a:xfrm>
          <a:prstGeom prst="rect">
            <a:avLst/>
          </a:prstGeom>
        </p:spPr>
        <p:txBody>
          <a:bodyPr anchor="t" rtlCol="false" tIns="0" lIns="0" bIns="0" rIns="0">
            <a:spAutoFit/>
          </a:bodyPr>
          <a:lstStyle/>
          <a:p>
            <a:pPr algn="l">
              <a:lnSpc>
                <a:spcPts val="3915"/>
              </a:lnSpc>
            </a:pPr>
            <a:r>
              <a:rPr lang="en-US" sz="3262">
                <a:solidFill>
                  <a:srgbClr val="526176"/>
                </a:solidFill>
                <a:latin typeface="Noto Sans Kr"/>
                <a:ea typeface="Noto Sans Kr"/>
                <a:cs typeface="Noto Sans Kr"/>
                <a:sym typeface="Noto Sans Kr"/>
              </a:rPr>
              <a:t>근거 조사</a:t>
            </a:r>
          </a:p>
        </p:txBody>
      </p:sp>
      <p:sp>
        <p:nvSpPr>
          <p:cNvPr name="TextBox 11" id="11"/>
          <p:cNvSpPr txBox="true"/>
          <p:nvPr/>
        </p:nvSpPr>
        <p:spPr>
          <a:xfrm rot="0">
            <a:off x="11315700" y="8405813"/>
            <a:ext cx="4286250" cy="504852"/>
          </a:xfrm>
          <a:prstGeom prst="rect">
            <a:avLst/>
          </a:prstGeom>
        </p:spPr>
        <p:txBody>
          <a:bodyPr anchor="t" rtlCol="false" tIns="0" lIns="0" bIns="0" rIns="0">
            <a:spAutoFit/>
          </a:bodyPr>
          <a:lstStyle/>
          <a:p>
            <a:pPr algn="l">
              <a:lnSpc>
                <a:spcPts val="3915"/>
              </a:lnSpc>
            </a:pPr>
            <a:r>
              <a:rPr lang="en-US" sz="3262">
                <a:solidFill>
                  <a:srgbClr val="526176"/>
                </a:solidFill>
                <a:latin typeface="Noto Sans Kr"/>
                <a:ea typeface="Noto Sans Kr"/>
                <a:cs typeface="Noto Sans Kr"/>
                <a:sym typeface="Noto Sans Kr"/>
              </a:rPr>
              <a:t>코드 검증</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INPUT VALIDATION</a:t>
            </a:r>
          </a:p>
        </p:txBody>
      </p:sp>
      <p:sp>
        <p:nvSpPr>
          <p:cNvPr name="TextBox 3" id="3"/>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LLM 호출 전 입력 검사</a:t>
            </a:r>
          </a:p>
        </p:txBody>
      </p:sp>
      <p:sp>
        <p:nvSpPr>
          <p:cNvPr name="AutoShape 4" id="4"/>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5" id="5"/>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server.py 217·227·232행 / 중간 이벤트 반환부 생략</a:t>
            </a:r>
          </a:p>
        </p:txBody>
      </p:sp>
      <p:sp>
        <p:nvSpPr>
          <p:cNvPr name="TextBox 6" id="6"/>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02</a:t>
            </a:r>
          </a:p>
        </p:txBody>
      </p:sp>
      <p:sp>
        <p:nvSpPr>
          <p:cNvPr name="TextBox 7" id="7"/>
          <p:cNvSpPr txBox="true"/>
          <p:nvPr/>
        </p:nvSpPr>
        <p:spPr>
          <a:xfrm rot="0">
            <a:off x="914400" y="2614612"/>
            <a:ext cx="16459200" cy="562029"/>
          </a:xfrm>
          <a:prstGeom prst="rect">
            <a:avLst/>
          </a:prstGeom>
        </p:spPr>
        <p:txBody>
          <a:bodyPr anchor="t" rtlCol="false" tIns="0" lIns="0" bIns="0" rIns="0">
            <a:spAutoFit/>
          </a:bodyPr>
          <a:lstStyle/>
          <a:p>
            <a:pPr algn="l">
              <a:lnSpc>
                <a:spcPts val="4455"/>
              </a:lnSpc>
            </a:pPr>
            <a:r>
              <a:rPr lang="en-US" sz="3712">
                <a:solidFill>
                  <a:srgbClr val="526176"/>
                </a:solidFill>
                <a:latin typeface="Noto Sans Kr"/>
                <a:ea typeface="Noto Sans Kr"/>
                <a:cs typeface="Noto Sans Kr"/>
                <a:sym typeface="Noto Sans Kr"/>
              </a:rPr>
              <a:t>무의미한 입력은 그래프 실행 전에 반환합니다</a:t>
            </a:r>
          </a:p>
        </p:txBody>
      </p:sp>
      <p:grpSp>
        <p:nvGrpSpPr>
          <p:cNvPr name="Group 8" id="8"/>
          <p:cNvGrpSpPr/>
          <p:nvPr/>
        </p:nvGrpSpPr>
        <p:grpSpPr>
          <a:xfrm rot="0">
            <a:off x="928688" y="3743325"/>
            <a:ext cx="11272838" cy="4000500"/>
            <a:chOff x="0" y="0"/>
            <a:chExt cx="15030450" cy="5334000"/>
          </a:xfrm>
        </p:grpSpPr>
        <p:sp>
          <p:nvSpPr>
            <p:cNvPr name="Freeform 9" id="9"/>
            <p:cNvSpPr/>
            <p:nvPr/>
          </p:nvSpPr>
          <p:spPr>
            <a:xfrm flipH="false" flipV="false" rot="0">
              <a:off x="0" y="0"/>
              <a:ext cx="15030450" cy="5334000"/>
            </a:xfrm>
            <a:custGeom>
              <a:avLst/>
              <a:gdLst/>
              <a:ahLst/>
              <a:cxnLst/>
              <a:rect r="r" b="b" t="t" l="l"/>
              <a:pathLst>
                <a:path h="5334000" w="15030450">
                  <a:moveTo>
                    <a:pt x="0" y="0"/>
                  </a:moveTo>
                  <a:lnTo>
                    <a:pt x="15030450" y="0"/>
                  </a:lnTo>
                  <a:lnTo>
                    <a:pt x="15030450" y="5334000"/>
                  </a:lnTo>
                  <a:lnTo>
                    <a:pt x="0" y="5334000"/>
                  </a:lnTo>
                  <a:close/>
                </a:path>
              </a:pathLst>
            </a:custGeom>
            <a:solidFill>
              <a:srgbClr val="E9EEF5"/>
            </a:solidFill>
          </p:spPr>
        </p:sp>
      </p:grpSp>
      <p:sp>
        <p:nvSpPr>
          <p:cNvPr name="TextBox 10" id="10"/>
          <p:cNvSpPr txBox="true"/>
          <p:nvPr/>
        </p:nvSpPr>
        <p:spPr>
          <a:xfrm rot="0">
            <a:off x="1243012" y="4029075"/>
            <a:ext cx="10644188"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admission = validate_input(req.message, known,</a:t>
            </a:r>
          </a:p>
        </p:txBody>
      </p:sp>
      <p:sp>
        <p:nvSpPr>
          <p:cNvPr name="TextBox 11" id="11"/>
          <p:cNvSpPr txBox="true"/>
          <p:nvPr/>
        </p:nvSpPr>
        <p:spPr>
          <a:xfrm rot="0">
            <a:off x="1643062" y="4629150"/>
            <a:ext cx="10244138"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state["context"], req.targets)</a:t>
            </a:r>
          </a:p>
        </p:txBody>
      </p:sp>
      <p:sp>
        <p:nvSpPr>
          <p:cNvPr name="TextBox 12" id="12"/>
          <p:cNvSpPr txBox="true"/>
          <p:nvPr/>
        </p:nvSpPr>
        <p:spPr>
          <a:xfrm rot="0">
            <a:off x="1243012" y="5229225"/>
            <a:ext cx="10644188"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if not admission["passed"]:</a:t>
            </a:r>
          </a:p>
        </p:txBody>
      </p:sp>
      <p:sp>
        <p:nvSpPr>
          <p:cNvPr name="TextBox 13" id="13"/>
          <p:cNvSpPr txBox="true"/>
          <p:nvPr/>
        </p:nvSpPr>
        <p:spPr>
          <a:xfrm rot="0">
            <a:off x="1643062" y="5829300"/>
            <a:ext cx="10244138"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  # 거절 이벤트 반환부 생략</a:t>
            </a:r>
          </a:p>
        </p:txBody>
      </p:sp>
      <p:sp>
        <p:nvSpPr>
          <p:cNvPr name="TextBox 14" id="14"/>
          <p:cNvSpPr txBox="true"/>
          <p:nvPr/>
        </p:nvSpPr>
        <p:spPr>
          <a:xfrm rot="0">
            <a:off x="1643062" y="6429375"/>
            <a:ext cx="10244138"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return</a:t>
            </a:r>
          </a:p>
        </p:txBody>
      </p:sp>
      <p:sp>
        <p:nvSpPr>
          <p:cNvPr name="TextBox 15" id="15"/>
          <p:cNvSpPr txBox="true"/>
          <p:nvPr/>
        </p:nvSpPr>
        <p:spPr>
          <a:xfrm rot="0">
            <a:off x="1243012" y="7029450"/>
            <a:ext cx="10644188" cy="457173"/>
          </a:xfrm>
          <a:prstGeom prst="rect">
            <a:avLst/>
          </a:prstGeom>
        </p:spPr>
        <p:txBody>
          <a:bodyPr anchor="t" rtlCol="false" tIns="0" lIns="0" bIns="0" rIns="0">
            <a:spAutoFit/>
          </a:bodyPr>
          <a:lstStyle/>
          <a:p>
            <a:pPr algn="l">
              <a:lnSpc>
                <a:spcPts val="3644"/>
              </a:lnSpc>
            </a:pPr>
            <a:r>
              <a:rPr lang="en-US" sz="3037">
                <a:solidFill>
                  <a:srgbClr val="526176"/>
                </a:solidFill>
                <a:latin typeface="Noto Sans Kr"/>
                <a:ea typeface="Noto Sans Kr"/>
                <a:cs typeface="Noto Sans Kr"/>
                <a:sym typeface="Noto Sans Kr"/>
              </a:rPr>
              <a:t># 이후 app.state.graph.astream(...) 실행</a:t>
            </a:r>
          </a:p>
        </p:txBody>
      </p:sp>
      <p:sp>
        <p:nvSpPr>
          <p:cNvPr name="TextBox 16" id="16"/>
          <p:cNvSpPr txBox="true"/>
          <p:nvPr/>
        </p:nvSpPr>
        <p:spPr>
          <a:xfrm rot="0">
            <a:off x="13115925" y="3943350"/>
            <a:ext cx="4286250" cy="562029"/>
          </a:xfrm>
          <a:prstGeom prst="rect">
            <a:avLst/>
          </a:prstGeom>
        </p:spPr>
        <p:txBody>
          <a:bodyPr anchor="t" rtlCol="false" tIns="0" lIns="0" bIns="0" rIns="0">
            <a:spAutoFit/>
          </a:bodyPr>
          <a:lstStyle/>
          <a:p>
            <a:pPr algn="l">
              <a:lnSpc>
                <a:spcPts val="4455"/>
              </a:lnSpc>
            </a:pPr>
            <a:r>
              <a:rPr lang="en-US" sz="3712" b="true">
                <a:solidFill>
                  <a:srgbClr val="2864DC"/>
                </a:solidFill>
                <a:latin typeface="Noto Sans Kr Bold"/>
                <a:ea typeface="Noto Sans Kr Bold"/>
                <a:cs typeface="Noto Sans Kr Bold"/>
                <a:sym typeface="Noto Sans Kr Bold"/>
              </a:rPr>
              <a:t>로컬 규칙 검사</a:t>
            </a:r>
          </a:p>
        </p:txBody>
      </p:sp>
      <p:sp>
        <p:nvSpPr>
          <p:cNvPr name="TextBox 17" id="17"/>
          <p:cNvSpPr txBox="true"/>
          <p:nvPr/>
        </p:nvSpPr>
        <p:spPr>
          <a:xfrm rot="0">
            <a:off x="13115925" y="4743450"/>
            <a:ext cx="4286250"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정규화 · 반복 · 관련성</a:t>
            </a:r>
          </a:p>
        </p:txBody>
      </p:sp>
      <p:sp>
        <p:nvSpPr>
          <p:cNvPr name="TextBox 18" id="18"/>
          <p:cNvSpPr txBox="true"/>
          <p:nvPr/>
        </p:nvSpPr>
        <p:spPr>
          <a:xfrm rot="0">
            <a:off x="13115925" y="5900738"/>
            <a:ext cx="4286250" cy="562029"/>
          </a:xfrm>
          <a:prstGeom prst="rect">
            <a:avLst/>
          </a:prstGeom>
        </p:spPr>
        <p:txBody>
          <a:bodyPr anchor="t" rtlCol="false" tIns="0" lIns="0" bIns="0" rIns="0">
            <a:spAutoFit/>
          </a:bodyPr>
          <a:lstStyle/>
          <a:p>
            <a:pPr algn="l">
              <a:lnSpc>
                <a:spcPts val="4455"/>
              </a:lnSpc>
            </a:pPr>
            <a:r>
              <a:rPr lang="en-US" sz="3712" b="true">
                <a:solidFill>
                  <a:srgbClr val="2864DC"/>
                </a:solidFill>
                <a:latin typeface="Noto Sans Kr Bold"/>
                <a:ea typeface="Noto Sans Kr Bold"/>
                <a:cs typeface="Noto Sans Kr Bold"/>
                <a:sym typeface="Noto Sans Kr Bold"/>
              </a:rPr>
              <a:t>거절 시 호출 없음</a:t>
            </a:r>
          </a:p>
        </p:txBody>
      </p:sp>
      <p:sp>
        <p:nvSpPr>
          <p:cNvPr name="TextBox 19" id="19"/>
          <p:cNvSpPr txBox="true"/>
          <p:nvPr/>
        </p:nvSpPr>
        <p:spPr>
          <a:xfrm rot="0">
            <a:off x="13115925" y="6715125"/>
            <a:ext cx="4286250" cy="457173"/>
          </a:xfrm>
          <a:prstGeom prst="rect">
            <a:avLst/>
          </a:prstGeom>
        </p:spPr>
        <p:txBody>
          <a:bodyPr anchor="t" rtlCol="false" tIns="0" lIns="0" bIns="0" rIns="0">
            <a:spAutoFit/>
          </a:bodyPr>
          <a:lstStyle/>
          <a:p>
            <a:pPr algn="l">
              <a:lnSpc>
                <a:spcPts val="3644"/>
              </a:lnSpc>
            </a:pPr>
            <a:r>
              <a:rPr lang="en-US" sz="3037">
                <a:solidFill>
                  <a:srgbClr val="142338"/>
                </a:solidFill>
                <a:latin typeface="Noto Sans Kr"/>
                <a:ea typeface="Noto Sans Kr"/>
                <a:cs typeface="Noto Sans Kr"/>
                <a:sym typeface="Noto Sans Kr"/>
              </a:rPr>
              <a:t>LLM · 임베딩 · MCP</a:t>
            </a:r>
          </a:p>
        </p:txBody>
      </p:sp>
      <p:sp>
        <p:nvSpPr>
          <p:cNvPr name="TextBox 20" id="20"/>
          <p:cNvSpPr txBox="true"/>
          <p:nvPr/>
        </p:nvSpPr>
        <p:spPr>
          <a:xfrm rot="0">
            <a:off x="914400" y="8577263"/>
            <a:ext cx="16459200" cy="504852"/>
          </a:xfrm>
          <a:prstGeom prst="rect">
            <a:avLst/>
          </a:prstGeom>
        </p:spPr>
        <p:txBody>
          <a:bodyPr anchor="t" rtlCol="false" tIns="0" lIns="0" bIns="0" rIns="0">
            <a:spAutoFit/>
          </a:bodyPr>
          <a:lstStyle/>
          <a:p>
            <a:pPr algn="l">
              <a:lnSpc>
                <a:spcPts val="3915"/>
              </a:lnSpc>
            </a:pPr>
            <a:r>
              <a:rPr lang="en-US" sz="3262">
                <a:solidFill>
                  <a:srgbClr val="526176"/>
                </a:solidFill>
                <a:latin typeface="Noto Sans Kr"/>
                <a:ea typeface="Noto Sans Kr"/>
                <a:cs typeface="Noto Sans Kr"/>
                <a:sym typeface="Noto Sans Kr"/>
              </a:rPr>
              <a:t>맥락 있는 짧은 답변은 허용합니다</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AutoShape 2" id="2"/>
          <p:cNvSpPr/>
          <p:nvPr/>
        </p:nvSpPr>
        <p:spPr>
          <a:xfrm>
            <a:off x="13084493" y="3748591"/>
            <a:ext cx="1177290" cy="0"/>
          </a:xfrm>
          <a:prstGeom prst="line">
            <a:avLst/>
          </a:prstGeom>
          <a:ln cap="rnd" w="19050">
            <a:solidFill>
              <a:srgbClr val="2864DC"/>
            </a:solidFill>
            <a:prstDash val="solid"/>
            <a:headEnd type="none" len="sm" w="sm"/>
            <a:tailEnd type="triangle" len="med" w="lg"/>
          </a:ln>
        </p:spPr>
      </p:sp>
      <p:sp>
        <p:nvSpPr>
          <p:cNvPr name="AutoShape 3" id="3"/>
          <p:cNvSpPr/>
          <p:nvPr/>
        </p:nvSpPr>
        <p:spPr>
          <a:xfrm>
            <a:off x="8355330" y="3748591"/>
            <a:ext cx="1177290" cy="0"/>
          </a:xfrm>
          <a:prstGeom prst="line">
            <a:avLst/>
          </a:prstGeom>
          <a:ln cap="rnd" w="19050">
            <a:solidFill>
              <a:srgbClr val="2864DC"/>
            </a:solidFill>
            <a:prstDash val="solid"/>
            <a:headEnd type="none" len="sm" w="sm"/>
            <a:tailEnd type="triangle" len="med" w="lg"/>
          </a:ln>
        </p:spPr>
      </p:sp>
      <p:sp>
        <p:nvSpPr>
          <p:cNvPr name="AutoShape 4" id="4"/>
          <p:cNvSpPr/>
          <p:nvPr/>
        </p:nvSpPr>
        <p:spPr>
          <a:xfrm>
            <a:off x="3897630" y="3748591"/>
            <a:ext cx="1177290" cy="0"/>
          </a:xfrm>
          <a:prstGeom prst="line">
            <a:avLst/>
          </a:prstGeom>
          <a:ln cap="rnd" w="19050">
            <a:solidFill>
              <a:srgbClr val="2864DC"/>
            </a:solidFill>
            <a:prstDash val="solid"/>
            <a:headEnd type="none" len="sm" w="sm"/>
            <a:tailEnd type="triangle" len="med" w="lg"/>
          </a:ln>
        </p:spPr>
      </p:sp>
      <p:sp>
        <p:nvSpPr>
          <p:cNvPr name="TextBox 5" id="5"/>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MCP &amp; RAG</a:t>
            </a:r>
          </a:p>
        </p:txBody>
      </p:sp>
      <p:sp>
        <p:nvSpPr>
          <p:cNvPr name="TextBox 6" id="6"/>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관측을 바탕으로 근거 수집</a:t>
            </a:r>
          </a:p>
        </p:txBody>
      </p:sp>
      <p:sp>
        <p:nvSpPr>
          <p:cNvPr name="AutoShape 7" id="7"/>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8" id="8"/>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agent/graph.py 129~134행 / mcp_server.py 23~79행</a:t>
            </a:r>
          </a:p>
        </p:txBody>
      </p:sp>
      <p:sp>
        <p:nvSpPr>
          <p:cNvPr name="TextBox 9" id="9"/>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03</a:t>
            </a:r>
          </a:p>
        </p:txBody>
      </p:sp>
      <p:grpSp>
        <p:nvGrpSpPr>
          <p:cNvPr name="Group 10" id="10"/>
          <p:cNvGrpSpPr/>
          <p:nvPr/>
        </p:nvGrpSpPr>
        <p:grpSpPr>
          <a:xfrm rot="0">
            <a:off x="902970" y="3031808"/>
            <a:ext cx="2994660" cy="1433567"/>
            <a:chOff x="0" y="0"/>
            <a:chExt cx="3992880" cy="1911422"/>
          </a:xfrm>
        </p:grpSpPr>
        <p:sp>
          <p:nvSpPr>
            <p:cNvPr name="Freeform 11" id="11"/>
            <p:cNvSpPr/>
            <p:nvPr/>
          </p:nvSpPr>
          <p:spPr>
            <a:xfrm flipH="false" flipV="false" rot="0">
              <a:off x="0" y="0"/>
              <a:ext cx="3992880" cy="1911422"/>
            </a:xfrm>
            <a:custGeom>
              <a:avLst/>
              <a:gdLst/>
              <a:ahLst/>
              <a:cxnLst/>
              <a:rect r="r" b="b" t="t" l="l"/>
              <a:pathLst>
                <a:path h="1911422" w="3992880">
                  <a:moveTo>
                    <a:pt x="0" y="0"/>
                  </a:moveTo>
                  <a:lnTo>
                    <a:pt x="3992880" y="0"/>
                  </a:lnTo>
                  <a:lnTo>
                    <a:pt x="3992880" y="1911422"/>
                  </a:lnTo>
                  <a:lnTo>
                    <a:pt x="0" y="1911422"/>
                  </a:lnTo>
                  <a:close/>
                </a:path>
              </a:pathLst>
            </a:custGeom>
            <a:solidFill>
              <a:srgbClr val="EAF0FC"/>
            </a:solidFill>
            <a:ln w="22860" cap="sq">
              <a:solidFill>
                <a:srgbClr val="2864DC"/>
              </a:solidFill>
              <a:prstDash val="solid"/>
              <a:miter/>
            </a:ln>
          </p:spPr>
        </p:sp>
        <p:sp>
          <p:nvSpPr>
            <p:cNvPr name="TextBox 12" id="12"/>
            <p:cNvSpPr txBox="true"/>
            <p:nvPr/>
          </p:nvSpPr>
          <p:spPr>
            <a:xfrm>
              <a:off x="0" y="0"/>
              <a:ext cx="399288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LangGraph</a:t>
              </a:r>
            </a:p>
          </p:txBody>
        </p:sp>
      </p:grpSp>
      <p:grpSp>
        <p:nvGrpSpPr>
          <p:cNvPr name="Group 13" id="13"/>
          <p:cNvGrpSpPr/>
          <p:nvPr/>
        </p:nvGrpSpPr>
        <p:grpSpPr>
          <a:xfrm rot="0">
            <a:off x="5074920" y="3031808"/>
            <a:ext cx="3280410" cy="1433567"/>
            <a:chOff x="0" y="0"/>
            <a:chExt cx="4373880" cy="1911422"/>
          </a:xfrm>
        </p:grpSpPr>
        <p:sp>
          <p:nvSpPr>
            <p:cNvPr name="Freeform 14" id="14"/>
            <p:cNvSpPr/>
            <p:nvPr/>
          </p:nvSpPr>
          <p:spPr>
            <a:xfrm flipH="false" flipV="false" rot="0">
              <a:off x="0" y="0"/>
              <a:ext cx="4373880" cy="1911422"/>
            </a:xfrm>
            <a:custGeom>
              <a:avLst/>
              <a:gdLst/>
              <a:ahLst/>
              <a:cxnLst/>
              <a:rect r="r" b="b" t="t" l="l"/>
              <a:pathLst>
                <a:path h="1911422" w="4373880">
                  <a:moveTo>
                    <a:pt x="0" y="0"/>
                  </a:moveTo>
                  <a:lnTo>
                    <a:pt x="4373880" y="0"/>
                  </a:lnTo>
                  <a:lnTo>
                    <a:pt x="4373880" y="1911422"/>
                  </a:lnTo>
                  <a:lnTo>
                    <a:pt x="0" y="1911422"/>
                  </a:lnTo>
                  <a:close/>
                </a:path>
              </a:pathLst>
            </a:custGeom>
            <a:solidFill>
              <a:srgbClr val="EAF0FC"/>
            </a:solidFill>
            <a:ln w="22860" cap="sq">
              <a:solidFill>
                <a:srgbClr val="2864DC"/>
              </a:solidFill>
              <a:prstDash val="solid"/>
              <a:miter/>
            </a:ln>
          </p:spPr>
        </p:sp>
        <p:sp>
          <p:nvSpPr>
            <p:cNvPr name="TextBox 15" id="15"/>
            <p:cNvSpPr txBox="true"/>
            <p:nvPr/>
          </p:nvSpPr>
          <p:spPr>
            <a:xfrm>
              <a:off x="0" y="0"/>
              <a:ext cx="437388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지표 · 로그</a:t>
              </a:r>
            </a:p>
          </p:txBody>
        </p:sp>
      </p:grpSp>
      <p:grpSp>
        <p:nvGrpSpPr>
          <p:cNvPr name="Group 16" id="16"/>
          <p:cNvGrpSpPr/>
          <p:nvPr/>
        </p:nvGrpSpPr>
        <p:grpSpPr>
          <a:xfrm rot="0">
            <a:off x="9532620" y="3031808"/>
            <a:ext cx="3551872" cy="1433567"/>
            <a:chOff x="0" y="0"/>
            <a:chExt cx="4735830" cy="1911422"/>
          </a:xfrm>
        </p:grpSpPr>
        <p:sp>
          <p:nvSpPr>
            <p:cNvPr name="Freeform 17" id="17"/>
            <p:cNvSpPr/>
            <p:nvPr/>
          </p:nvSpPr>
          <p:spPr>
            <a:xfrm flipH="false" flipV="false" rot="0">
              <a:off x="0" y="0"/>
              <a:ext cx="4735830" cy="1911422"/>
            </a:xfrm>
            <a:custGeom>
              <a:avLst/>
              <a:gdLst/>
              <a:ahLst/>
              <a:cxnLst/>
              <a:rect r="r" b="b" t="t" l="l"/>
              <a:pathLst>
                <a:path h="1911422" w="4735830">
                  <a:moveTo>
                    <a:pt x="0" y="0"/>
                  </a:moveTo>
                  <a:lnTo>
                    <a:pt x="4735830" y="0"/>
                  </a:lnTo>
                  <a:lnTo>
                    <a:pt x="4735830" y="1911422"/>
                  </a:lnTo>
                  <a:lnTo>
                    <a:pt x="0" y="1911422"/>
                  </a:lnTo>
                  <a:close/>
                </a:path>
              </a:pathLst>
            </a:custGeom>
            <a:solidFill>
              <a:srgbClr val="EAF0FC"/>
            </a:solidFill>
            <a:ln w="22860" cap="sq">
              <a:solidFill>
                <a:srgbClr val="2864DC"/>
              </a:solidFill>
              <a:prstDash val="solid"/>
              <a:miter/>
            </a:ln>
          </p:spPr>
        </p:sp>
        <p:sp>
          <p:nvSpPr>
            <p:cNvPr name="TextBox 18" id="18"/>
            <p:cNvSpPr txBox="true"/>
            <p:nvPr/>
          </p:nvSpPr>
          <p:spPr>
            <a:xfrm>
              <a:off x="0" y="0"/>
              <a:ext cx="473583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관측 기반 RAG</a:t>
              </a:r>
            </a:p>
          </p:txBody>
        </p:sp>
      </p:grpSp>
      <p:grpSp>
        <p:nvGrpSpPr>
          <p:cNvPr name="Group 19" id="19"/>
          <p:cNvGrpSpPr/>
          <p:nvPr/>
        </p:nvGrpSpPr>
        <p:grpSpPr>
          <a:xfrm rot="0">
            <a:off x="14261782" y="3031808"/>
            <a:ext cx="3123248" cy="1433567"/>
            <a:chOff x="0" y="0"/>
            <a:chExt cx="4164330" cy="1911422"/>
          </a:xfrm>
        </p:grpSpPr>
        <p:sp>
          <p:nvSpPr>
            <p:cNvPr name="Freeform 20" id="20"/>
            <p:cNvSpPr/>
            <p:nvPr/>
          </p:nvSpPr>
          <p:spPr>
            <a:xfrm flipH="false" flipV="false" rot="0">
              <a:off x="0" y="0"/>
              <a:ext cx="4164330" cy="1911422"/>
            </a:xfrm>
            <a:custGeom>
              <a:avLst/>
              <a:gdLst/>
              <a:ahLst/>
              <a:cxnLst/>
              <a:rect r="r" b="b" t="t" l="l"/>
              <a:pathLst>
                <a:path h="1911422" w="4164330">
                  <a:moveTo>
                    <a:pt x="0" y="0"/>
                  </a:moveTo>
                  <a:lnTo>
                    <a:pt x="4164330" y="0"/>
                  </a:lnTo>
                  <a:lnTo>
                    <a:pt x="4164330" y="1911422"/>
                  </a:lnTo>
                  <a:lnTo>
                    <a:pt x="0" y="1911422"/>
                  </a:lnTo>
                  <a:close/>
                </a:path>
              </a:pathLst>
            </a:custGeom>
            <a:solidFill>
              <a:srgbClr val="EAF0FC"/>
            </a:solidFill>
            <a:ln w="22860" cap="sq">
              <a:solidFill>
                <a:srgbClr val="2864DC"/>
              </a:solidFill>
              <a:prstDash val="solid"/>
              <a:miter/>
            </a:ln>
          </p:spPr>
        </p:sp>
        <p:sp>
          <p:nvSpPr>
            <p:cNvPr name="TextBox 21" id="21"/>
            <p:cNvSpPr txBox="true"/>
            <p:nvPr/>
          </p:nvSpPr>
          <p:spPr>
            <a:xfrm>
              <a:off x="0" y="0"/>
              <a:ext cx="416433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근거 통합</a:t>
              </a:r>
            </a:p>
          </p:txBody>
        </p:sp>
      </p:grpSp>
      <p:sp>
        <p:nvSpPr>
          <p:cNvPr name="TextBox 22" id="22"/>
          <p:cNvSpPr txBox="true"/>
          <p:nvPr/>
        </p:nvSpPr>
        <p:spPr>
          <a:xfrm rot="0">
            <a:off x="5557838" y="4586288"/>
            <a:ext cx="3143250" cy="457173"/>
          </a:xfrm>
          <a:prstGeom prst="rect">
            <a:avLst/>
          </a:prstGeom>
        </p:spPr>
        <p:txBody>
          <a:bodyPr anchor="t" rtlCol="false" tIns="0" lIns="0" bIns="0" rIns="0">
            <a:spAutoFit/>
          </a:bodyPr>
          <a:lstStyle/>
          <a:p>
            <a:pPr algn="l">
              <a:lnSpc>
                <a:spcPts val="3644"/>
              </a:lnSpc>
            </a:pPr>
            <a:r>
              <a:rPr lang="en-US" sz="3037">
                <a:solidFill>
                  <a:srgbClr val="526176"/>
                </a:solidFill>
                <a:latin typeface="Noto Sans Kr"/>
                <a:ea typeface="Noto Sans Kr"/>
                <a:cs typeface="Noto Sans Kr"/>
                <a:sym typeface="Noto Sans Kr"/>
              </a:rPr>
              <a:t>병렬 조회</a:t>
            </a:r>
          </a:p>
        </p:txBody>
      </p:sp>
      <p:grpSp>
        <p:nvGrpSpPr>
          <p:cNvPr name="Group 23" id="23"/>
          <p:cNvGrpSpPr/>
          <p:nvPr/>
        </p:nvGrpSpPr>
        <p:grpSpPr>
          <a:xfrm rot="0">
            <a:off x="928688" y="5257800"/>
            <a:ext cx="11658600" cy="3571875"/>
            <a:chOff x="0" y="0"/>
            <a:chExt cx="15544800" cy="4762500"/>
          </a:xfrm>
        </p:grpSpPr>
        <p:sp>
          <p:nvSpPr>
            <p:cNvPr name="Freeform 24" id="24"/>
            <p:cNvSpPr/>
            <p:nvPr/>
          </p:nvSpPr>
          <p:spPr>
            <a:xfrm flipH="false" flipV="false" rot="0">
              <a:off x="0" y="0"/>
              <a:ext cx="15544800" cy="4762500"/>
            </a:xfrm>
            <a:custGeom>
              <a:avLst/>
              <a:gdLst/>
              <a:ahLst/>
              <a:cxnLst/>
              <a:rect r="r" b="b" t="t" l="l"/>
              <a:pathLst>
                <a:path h="4762500" w="15544800">
                  <a:moveTo>
                    <a:pt x="0" y="0"/>
                  </a:moveTo>
                  <a:lnTo>
                    <a:pt x="15544800" y="0"/>
                  </a:lnTo>
                  <a:lnTo>
                    <a:pt x="15544800" y="4762500"/>
                  </a:lnTo>
                  <a:lnTo>
                    <a:pt x="0" y="4762500"/>
                  </a:lnTo>
                  <a:close/>
                </a:path>
              </a:pathLst>
            </a:custGeom>
            <a:solidFill>
              <a:srgbClr val="E9EEF5"/>
            </a:solidFill>
          </p:spPr>
        </p:sp>
      </p:grpSp>
      <p:sp>
        <p:nvSpPr>
          <p:cNvPr name="TextBox 25" id="25"/>
          <p:cNvSpPr txBox="true"/>
          <p:nvPr/>
        </p:nvSpPr>
        <p:spPr>
          <a:xfrm rot="0">
            <a:off x="1243012" y="5534025"/>
            <a:ext cx="11029950" cy="447621"/>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groups = await asyncio.gather(*(</a:t>
            </a:r>
          </a:p>
        </p:txBody>
      </p:sp>
      <p:sp>
        <p:nvSpPr>
          <p:cNvPr name="TextBox 26" id="26"/>
          <p:cNvSpPr txBox="true"/>
          <p:nvPr/>
        </p:nvSpPr>
        <p:spPr>
          <a:xfrm rot="0">
            <a:off x="1643062" y="6062663"/>
            <a:ext cx="10629900" cy="447621"/>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one(n, specialists[n])</a:t>
            </a:r>
          </a:p>
        </p:txBody>
      </p:sp>
      <p:sp>
        <p:nvSpPr>
          <p:cNvPr name="TextBox 27" id="27"/>
          <p:cNvSpPr txBox="true"/>
          <p:nvPr/>
        </p:nvSpPr>
        <p:spPr>
          <a:xfrm rot="0">
            <a:off x="1643062" y="6591300"/>
            <a:ext cx="10629900" cy="447621"/>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for n in ("metrics", "logs")</a:t>
            </a:r>
          </a:p>
        </p:txBody>
      </p:sp>
      <p:sp>
        <p:nvSpPr>
          <p:cNvPr name="TextBox 28" id="28"/>
          <p:cNvSpPr txBox="true"/>
          <p:nvPr/>
        </p:nvSpPr>
        <p:spPr>
          <a:xfrm rot="0">
            <a:off x="1243012" y="7119937"/>
            <a:ext cx="11029950" cy="447621"/>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a:t>
            </a:r>
          </a:p>
        </p:txBody>
      </p:sp>
      <p:sp>
        <p:nvSpPr>
          <p:cNvPr name="TextBox 29" id="29"/>
          <p:cNvSpPr txBox="true"/>
          <p:nvPr/>
        </p:nvSpPr>
        <p:spPr>
          <a:xfrm rot="0">
            <a:off x="1243012" y="7648575"/>
            <a:ext cx="11029950" cy="447621"/>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groups.append(await one(</a:t>
            </a:r>
          </a:p>
        </p:txBody>
      </p:sp>
      <p:sp>
        <p:nvSpPr>
          <p:cNvPr name="TextBox 30" id="30"/>
          <p:cNvSpPr txBox="true"/>
          <p:nvPr/>
        </p:nvSpPr>
        <p:spPr>
          <a:xfrm rot="0">
            <a:off x="1643062" y="8177213"/>
            <a:ext cx="10629900" cy="447621"/>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"runbooks", specialists["runbooks"], query))</a:t>
            </a:r>
          </a:p>
        </p:txBody>
      </p:sp>
      <p:sp>
        <p:nvSpPr>
          <p:cNvPr name="TextBox 31" id="31"/>
          <p:cNvSpPr txBox="true"/>
          <p:nvPr/>
        </p:nvSpPr>
        <p:spPr>
          <a:xfrm rot="0">
            <a:off x="13258800" y="5529262"/>
            <a:ext cx="4114800" cy="562029"/>
          </a:xfrm>
          <a:prstGeom prst="rect">
            <a:avLst/>
          </a:prstGeom>
        </p:spPr>
        <p:txBody>
          <a:bodyPr anchor="t" rtlCol="false" tIns="0" lIns="0" bIns="0" rIns="0">
            <a:spAutoFit/>
          </a:bodyPr>
          <a:lstStyle/>
          <a:p>
            <a:pPr algn="l">
              <a:lnSpc>
                <a:spcPts val="4455"/>
              </a:lnSpc>
            </a:pPr>
            <a:r>
              <a:rPr lang="en-US" sz="3712" b="true">
                <a:solidFill>
                  <a:srgbClr val="2864DC"/>
                </a:solidFill>
                <a:latin typeface="Noto Sans Kr Bold"/>
                <a:ea typeface="Noto Sans Kr Bold"/>
                <a:cs typeface="Noto Sans Kr Bold"/>
                <a:sym typeface="Noto Sans Kr Bold"/>
              </a:rPr>
              <a:t>MCP</a:t>
            </a:r>
          </a:p>
        </p:txBody>
      </p:sp>
      <p:sp>
        <p:nvSpPr>
          <p:cNvPr name="TextBox 32" id="32"/>
          <p:cNvSpPr txBox="true"/>
          <p:nvPr/>
        </p:nvSpPr>
        <p:spPr>
          <a:xfrm rot="0">
            <a:off x="13258800" y="6267450"/>
            <a:ext cx="4114800" cy="847725"/>
          </a:xfrm>
          <a:prstGeom prst="rect">
            <a:avLst/>
          </a:prstGeom>
        </p:spPr>
        <p:txBody>
          <a:bodyPr anchor="t" rtlCol="false" tIns="0" lIns="0" bIns="0" rIns="0">
            <a:spAutoFit/>
          </a:bodyPr>
          <a:lstStyle/>
          <a:p>
            <a:pPr algn="l">
              <a:lnSpc>
                <a:spcPts val="3375"/>
              </a:lnSpc>
            </a:pPr>
            <a:r>
              <a:rPr lang="en-US" sz="2812">
                <a:solidFill>
                  <a:srgbClr val="142338"/>
                </a:solidFill>
                <a:latin typeface="Noto Sans Kr"/>
                <a:ea typeface="Noto Sans Kr"/>
                <a:cs typeface="Noto Sans Kr"/>
                <a:sym typeface="Noto Sans Kr"/>
              </a:rPr>
              <a:t>Tool · Resource · Prompt</a:t>
            </a:r>
          </a:p>
        </p:txBody>
      </p:sp>
      <p:sp>
        <p:nvSpPr>
          <p:cNvPr name="TextBox 33" id="33"/>
          <p:cNvSpPr txBox="true"/>
          <p:nvPr/>
        </p:nvSpPr>
        <p:spPr>
          <a:xfrm rot="0">
            <a:off x="13258800" y="7239000"/>
            <a:ext cx="4114800" cy="466725"/>
          </a:xfrm>
          <a:prstGeom prst="rect">
            <a:avLst/>
          </a:prstGeom>
        </p:spPr>
        <p:txBody>
          <a:bodyPr anchor="t" rtlCol="false" tIns="0" lIns="0" bIns="0" rIns="0">
            <a:spAutoFit/>
          </a:bodyPr>
          <a:lstStyle/>
          <a:p>
            <a:pPr algn="l">
              <a:lnSpc>
                <a:spcPts val="3779"/>
              </a:lnSpc>
            </a:pPr>
            <a:r>
              <a:rPr lang="en-US" sz="3150" b="true">
                <a:solidFill>
                  <a:srgbClr val="2864DC"/>
                </a:solidFill>
                <a:latin typeface="Noto Sans Kr Bold"/>
                <a:ea typeface="Noto Sans Kr Bold"/>
                <a:cs typeface="Noto Sans Kr Bold"/>
                <a:sym typeface="Noto Sans Kr Bold"/>
              </a:rPr>
              <a:t>매뉴얼 6종 / 최대 3개</a:t>
            </a:r>
          </a:p>
        </p:txBody>
      </p:sp>
      <p:sp>
        <p:nvSpPr>
          <p:cNvPr name="TextBox 34" id="34"/>
          <p:cNvSpPr txBox="true"/>
          <p:nvPr/>
        </p:nvSpPr>
        <p:spPr>
          <a:xfrm rot="0">
            <a:off x="13258800" y="7891463"/>
            <a:ext cx="4114800" cy="885717"/>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FastEmbed · SQLite</a:t>
            </a:r>
          </a:p>
          <a:p>
            <a:pPr algn="l">
              <a:lnSpc>
                <a:spcPts val="3510"/>
              </a:lnSpc>
            </a:pPr>
            <a:r>
              <a:rPr lang="en-US" sz="2925">
                <a:solidFill>
                  <a:srgbClr val="142338"/>
                </a:solidFill>
                <a:latin typeface="Noto Sans Kr"/>
                <a:ea typeface="Noto Sans Kr"/>
                <a:cs typeface="Noto Sans Kr"/>
                <a:sym typeface="Noto Sans Kr"/>
              </a:rPr>
              <a:t>NumPy 코사인 유사도</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AutoShape 2" id="2"/>
          <p:cNvSpPr/>
          <p:nvPr/>
        </p:nvSpPr>
        <p:spPr>
          <a:xfrm>
            <a:off x="12927330" y="3777166"/>
            <a:ext cx="1263015" cy="0"/>
          </a:xfrm>
          <a:prstGeom prst="line">
            <a:avLst/>
          </a:prstGeom>
          <a:ln cap="rnd" w="19050">
            <a:solidFill>
              <a:srgbClr val="2864DC"/>
            </a:solidFill>
            <a:prstDash val="solid"/>
            <a:headEnd type="none" len="sm" w="sm"/>
            <a:tailEnd type="triangle" len="med" w="lg"/>
          </a:ln>
        </p:spPr>
      </p:sp>
      <p:sp>
        <p:nvSpPr>
          <p:cNvPr name="AutoShape 3" id="3"/>
          <p:cNvSpPr/>
          <p:nvPr/>
        </p:nvSpPr>
        <p:spPr>
          <a:xfrm>
            <a:off x="8498205" y="3777166"/>
            <a:ext cx="1263015" cy="0"/>
          </a:xfrm>
          <a:prstGeom prst="line">
            <a:avLst/>
          </a:prstGeom>
          <a:ln cap="rnd" w="19050">
            <a:solidFill>
              <a:srgbClr val="2864DC"/>
            </a:solidFill>
            <a:prstDash val="solid"/>
            <a:headEnd type="none" len="sm" w="sm"/>
            <a:tailEnd type="triangle" len="med" w="lg"/>
          </a:ln>
        </p:spPr>
      </p:sp>
      <p:sp>
        <p:nvSpPr>
          <p:cNvPr name="AutoShape 4" id="4"/>
          <p:cNvSpPr/>
          <p:nvPr/>
        </p:nvSpPr>
        <p:spPr>
          <a:xfrm>
            <a:off x="4069080" y="3777166"/>
            <a:ext cx="1263015" cy="0"/>
          </a:xfrm>
          <a:prstGeom prst="line">
            <a:avLst/>
          </a:prstGeom>
          <a:ln cap="rnd" w="19050">
            <a:solidFill>
              <a:srgbClr val="2864DC"/>
            </a:solidFill>
            <a:prstDash val="solid"/>
            <a:headEnd type="none" len="sm" w="sm"/>
            <a:tailEnd type="triangle" len="med" w="lg"/>
          </a:ln>
        </p:spPr>
      </p:sp>
      <p:sp>
        <p:nvSpPr>
          <p:cNvPr name="TextBox 5" id="5"/>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HYPOTHESIS INVESTIGATION</a:t>
            </a:r>
          </a:p>
        </p:txBody>
      </p:sp>
      <p:sp>
        <p:nvSpPr>
          <p:cNvPr name="TextBox 6" id="6"/>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반증할 질문을 선택하는 추가 조사</a:t>
            </a:r>
          </a:p>
        </p:txBody>
      </p:sp>
      <p:sp>
        <p:nvSpPr>
          <p:cNvPr name="AutoShape 7" id="7"/>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8" id="8"/>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agent/graph.py 190행 / agent/investigation.py 25~38·134~170행</a:t>
            </a:r>
          </a:p>
        </p:txBody>
      </p:sp>
      <p:sp>
        <p:nvSpPr>
          <p:cNvPr name="TextBox 9" id="9"/>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04</a:t>
            </a:r>
          </a:p>
        </p:txBody>
      </p:sp>
      <p:grpSp>
        <p:nvGrpSpPr>
          <p:cNvPr name="Group 10" id="10"/>
          <p:cNvGrpSpPr/>
          <p:nvPr/>
        </p:nvGrpSpPr>
        <p:grpSpPr>
          <a:xfrm rot="0">
            <a:off x="902970" y="3060383"/>
            <a:ext cx="3166110" cy="1433567"/>
            <a:chOff x="0" y="0"/>
            <a:chExt cx="4221480" cy="1911422"/>
          </a:xfrm>
        </p:grpSpPr>
        <p:sp>
          <p:nvSpPr>
            <p:cNvPr name="Freeform 11" id="11"/>
            <p:cNvSpPr/>
            <p:nvPr/>
          </p:nvSpPr>
          <p:spPr>
            <a:xfrm flipH="false" flipV="false" rot="0">
              <a:off x="0" y="0"/>
              <a:ext cx="4221480" cy="1911422"/>
            </a:xfrm>
            <a:custGeom>
              <a:avLst/>
              <a:gdLst/>
              <a:ahLst/>
              <a:cxnLst/>
              <a:rect r="r" b="b" t="t" l="l"/>
              <a:pathLst>
                <a:path h="1911422" w="4221480">
                  <a:moveTo>
                    <a:pt x="0" y="0"/>
                  </a:moveTo>
                  <a:lnTo>
                    <a:pt x="4221480" y="0"/>
                  </a:lnTo>
                  <a:lnTo>
                    <a:pt x="4221480" y="1911422"/>
                  </a:lnTo>
                  <a:lnTo>
                    <a:pt x="0" y="1911422"/>
                  </a:lnTo>
                  <a:close/>
                </a:path>
              </a:pathLst>
            </a:custGeom>
            <a:solidFill>
              <a:srgbClr val="EAF0FC"/>
            </a:solidFill>
            <a:ln w="22860" cap="sq">
              <a:solidFill>
                <a:srgbClr val="2864DC"/>
              </a:solidFill>
              <a:prstDash val="solid"/>
              <a:miter/>
            </a:ln>
          </p:spPr>
        </p:sp>
        <p:sp>
          <p:nvSpPr>
            <p:cNvPr name="TextBox 12" id="12"/>
            <p:cNvSpPr txBox="true"/>
            <p:nvPr/>
          </p:nvSpPr>
          <p:spPr>
            <a:xfrm>
              <a:off x="0" y="0"/>
              <a:ext cx="422148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계획</a:t>
              </a:r>
            </a:p>
          </p:txBody>
        </p:sp>
      </p:grpSp>
      <p:grpSp>
        <p:nvGrpSpPr>
          <p:cNvPr name="Group 13" id="13"/>
          <p:cNvGrpSpPr/>
          <p:nvPr/>
        </p:nvGrpSpPr>
        <p:grpSpPr>
          <a:xfrm rot="0">
            <a:off x="5332095" y="3060383"/>
            <a:ext cx="3166110" cy="1433567"/>
            <a:chOff x="0" y="0"/>
            <a:chExt cx="4221480" cy="1911422"/>
          </a:xfrm>
        </p:grpSpPr>
        <p:sp>
          <p:nvSpPr>
            <p:cNvPr name="Freeform 14" id="14"/>
            <p:cNvSpPr/>
            <p:nvPr/>
          </p:nvSpPr>
          <p:spPr>
            <a:xfrm flipH="false" flipV="false" rot="0">
              <a:off x="0" y="0"/>
              <a:ext cx="4221480" cy="1911422"/>
            </a:xfrm>
            <a:custGeom>
              <a:avLst/>
              <a:gdLst/>
              <a:ahLst/>
              <a:cxnLst/>
              <a:rect r="r" b="b" t="t" l="l"/>
              <a:pathLst>
                <a:path h="1911422" w="4221480">
                  <a:moveTo>
                    <a:pt x="0" y="0"/>
                  </a:moveTo>
                  <a:lnTo>
                    <a:pt x="4221480" y="0"/>
                  </a:lnTo>
                  <a:lnTo>
                    <a:pt x="4221480" y="1911422"/>
                  </a:lnTo>
                  <a:lnTo>
                    <a:pt x="0" y="1911422"/>
                  </a:lnTo>
                  <a:close/>
                </a:path>
              </a:pathLst>
            </a:custGeom>
            <a:solidFill>
              <a:srgbClr val="EAF0FC"/>
            </a:solidFill>
            <a:ln w="22860" cap="sq">
              <a:solidFill>
                <a:srgbClr val="2864DC"/>
              </a:solidFill>
              <a:prstDash val="solid"/>
              <a:miter/>
            </a:ln>
          </p:spPr>
        </p:sp>
        <p:sp>
          <p:nvSpPr>
            <p:cNvPr name="TextBox 15" id="15"/>
            <p:cNvSpPr txBox="true"/>
            <p:nvPr/>
          </p:nvSpPr>
          <p:spPr>
            <a:xfrm>
              <a:off x="0" y="0"/>
              <a:ext cx="422148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관측</a:t>
              </a:r>
            </a:p>
          </p:txBody>
        </p:sp>
      </p:grpSp>
      <p:grpSp>
        <p:nvGrpSpPr>
          <p:cNvPr name="Group 16" id="16"/>
          <p:cNvGrpSpPr/>
          <p:nvPr/>
        </p:nvGrpSpPr>
        <p:grpSpPr>
          <a:xfrm rot="0">
            <a:off x="9761220" y="3060383"/>
            <a:ext cx="3166110" cy="1433567"/>
            <a:chOff x="0" y="0"/>
            <a:chExt cx="4221480" cy="1911422"/>
          </a:xfrm>
        </p:grpSpPr>
        <p:sp>
          <p:nvSpPr>
            <p:cNvPr name="Freeform 17" id="17"/>
            <p:cNvSpPr/>
            <p:nvPr/>
          </p:nvSpPr>
          <p:spPr>
            <a:xfrm flipH="false" flipV="false" rot="0">
              <a:off x="0" y="0"/>
              <a:ext cx="4221480" cy="1911422"/>
            </a:xfrm>
            <a:custGeom>
              <a:avLst/>
              <a:gdLst/>
              <a:ahLst/>
              <a:cxnLst/>
              <a:rect r="r" b="b" t="t" l="l"/>
              <a:pathLst>
                <a:path h="1911422" w="4221480">
                  <a:moveTo>
                    <a:pt x="0" y="0"/>
                  </a:moveTo>
                  <a:lnTo>
                    <a:pt x="4221480" y="0"/>
                  </a:lnTo>
                  <a:lnTo>
                    <a:pt x="4221480" y="1911422"/>
                  </a:lnTo>
                  <a:lnTo>
                    <a:pt x="0" y="1911422"/>
                  </a:lnTo>
                  <a:close/>
                </a:path>
              </a:pathLst>
            </a:custGeom>
            <a:solidFill>
              <a:srgbClr val="EAF0FC"/>
            </a:solidFill>
            <a:ln w="22860" cap="sq">
              <a:solidFill>
                <a:srgbClr val="2864DC"/>
              </a:solidFill>
              <a:prstDash val="solid"/>
              <a:miter/>
            </a:ln>
          </p:spPr>
        </p:sp>
        <p:sp>
          <p:nvSpPr>
            <p:cNvPr name="TextBox 18" id="18"/>
            <p:cNvSpPr txBox="true"/>
            <p:nvPr/>
          </p:nvSpPr>
          <p:spPr>
            <a:xfrm>
              <a:off x="0" y="0"/>
              <a:ext cx="422148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판정</a:t>
              </a:r>
            </a:p>
          </p:txBody>
        </p:sp>
      </p:grpSp>
      <p:grpSp>
        <p:nvGrpSpPr>
          <p:cNvPr name="Group 19" id="19"/>
          <p:cNvGrpSpPr/>
          <p:nvPr/>
        </p:nvGrpSpPr>
        <p:grpSpPr>
          <a:xfrm rot="0">
            <a:off x="14190345" y="3060383"/>
            <a:ext cx="3194685" cy="1433567"/>
            <a:chOff x="0" y="0"/>
            <a:chExt cx="4259580" cy="1911422"/>
          </a:xfrm>
        </p:grpSpPr>
        <p:sp>
          <p:nvSpPr>
            <p:cNvPr name="Freeform 20" id="20"/>
            <p:cNvSpPr/>
            <p:nvPr/>
          </p:nvSpPr>
          <p:spPr>
            <a:xfrm flipH="false" flipV="false" rot="0">
              <a:off x="0" y="0"/>
              <a:ext cx="4259580" cy="1911422"/>
            </a:xfrm>
            <a:custGeom>
              <a:avLst/>
              <a:gdLst/>
              <a:ahLst/>
              <a:cxnLst/>
              <a:rect r="r" b="b" t="t" l="l"/>
              <a:pathLst>
                <a:path h="1911422" w="4259580">
                  <a:moveTo>
                    <a:pt x="0" y="0"/>
                  </a:moveTo>
                  <a:lnTo>
                    <a:pt x="4259580" y="0"/>
                  </a:lnTo>
                  <a:lnTo>
                    <a:pt x="4259580" y="1911422"/>
                  </a:lnTo>
                  <a:lnTo>
                    <a:pt x="0" y="1911422"/>
                  </a:lnTo>
                  <a:close/>
                </a:path>
              </a:pathLst>
            </a:custGeom>
            <a:solidFill>
              <a:srgbClr val="EAF0FC"/>
            </a:solidFill>
            <a:ln w="22860" cap="sq">
              <a:solidFill>
                <a:srgbClr val="2864DC"/>
              </a:solidFill>
              <a:prstDash val="solid"/>
              <a:miter/>
            </a:ln>
          </p:spPr>
        </p:sp>
        <p:sp>
          <p:nvSpPr>
            <p:cNvPr name="TextBox 21" id="21"/>
            <p:cNvSpPr txBox="true"/>
            <p:nvPr/>
          </p:nvSpPr>
          <p:spPr>
            <a:xfrm>
              <a:off x="0" y="0"/>
              <a:ext cx="4259580" cy="1911422"/>
            </a:xfrm>
            <a:prstGeom prst="rect">
              <a:avLst/>
            </a:prstGeom>
          </p:spPr>
          <p:txBody>
            <a:bodyPr anchor="ctr" rtlCol="false" tIns="50800" lIns="50800" bIns="50800" rIns="50800"/>
            <a:lstStyle/>
            <a:p>
              <a:pPr algn="ctr">
                <a:lnSpc>
                  <a:spcPts val="4050"/>
                </a:lnSpc>
              </a:pPr>
              <a:r>
                <a:rPr lang="en-US" sz="3375" b="true">
                  <a:solidFill>
                    <a:srgbClr val="142338"/>
                  </a:solidFill>
                  <a:latin typeface="Noto Sans Kr Bold"/>
                  <a:ea typeface="Noto Sans Kr Bold"/>
                  <a:cs typeface="Noto Sans Kr Bold"/>
                  <a:sym typeface="Noto Sans Kr Bold"/>
                </a:rPr>
                <a:t>분석 · 보고</a:t>
              </a:r>
            </a:p>
          </p:txBody>
        </p:sp>
      </p:grpSp>
      <p:sp>
        <p:nvSpPr>
          <p:cNvPr name="AutoShape 22" id="22"/>
          <p:cNvSpPr/>
          <p:nvPr/>
        </p:nvSpPr>
        <p:spPr>
          <a:xfrm rot="5297400">
            <a:off x="10865434" y="4726781"/>
            <a:ext cx="957691" cy="0"/>
          </a:xfrm>
          <a:prstGeom prst="line">
            <a:avLst/>
          </a:prstGeom>
          <a:ln cap="rnd" w="19050">
            <a:solidFill>
              <a:srgbClr val="2864DC"/>
            </a:solidFill>
            <a:prstDash val="solid"/>
            <a:headEnd type="none" len="sm" w="sm"/>
            <a:tailEnd type="none" len="sm" w="sm"/>
          </a:ln>
        </p:spPr>
      </p:sp>
      <p:sp>
        <p:nvSpPr>
          <p:cNvPr name="AutoShape 23" id="23"/>
          <p:cNvSpPr/>
          <p:nvPr/>
        </p:nvSpPr>
        <p:spPr>
          <a:xfrm rot="11040">
            <a:off x="2471718" y="5191125"/>
            <a:ext cx="8886873" cy="0"/>
          </a:xfrm>
          <a:prstGeom prst="line">
            <a:avLst/>
          </a:prstGeom>
          <a:ln cap="rnd" w="19050">
            <a:solidFill>
              <a:srgbClr val="2864DC"/>
            </a:solidFill>
            <a:prstDash val="solid"/>
            <a:headEnd type="none" len="sm" w="sm"/>
            <a:tailEnd type="none" len="sm" w="sm"/>
          </a:ln>
        </p:spPr>
      </p:sp>
      <p:sp>
        <p:nvSpPr>
          <p:cNvPr name="AutoShape 24" id="24"/>
          <p:cNvSpPr/>
          <p:nvPr/>
        </p:nvSpPr>
        <p:spPr>
          <a:xfrm rot="5297400">
            <a:off x="2007184" y="4726781"/>
            <a:ext cx="957691" cy="0"/>
          </a:xfrm>
          <a:prstGeom prst="line">
            <a:avLst/>
          </a:prstGeom>
          <a:ln cap="rnd" w="19050">
            <a:solidFill>
              <a:srgbClr val="2864DC"/>
            </a:solidFill>
            <a:prstDash val="solid"/>
            <a:headEnd type="triangle" len="med" w="lg"/>
            <a:tailEnd type="none" len="sm" w="sm"/>
          </a:ln>
        </p:spPr>
      </p:sp>
      <p:sp>
        <p:nvSpPr>
          <p:cNvPr name="TextBox 25" id="25"/>
          <p:cNvSpPr txBox="true"/>
          <p:nvPr/>
        </p:nvSpPr>
        <p:spPr>
          <a:xfrm rot="0">
            <a:off x="5057775" y="5343525"/>
            <a:ext cx="6715125" cy="457173"/>
          </a:xfrm>
          <a:prstGeom prst="rect">
            <a:avLst/>
          </a:prstGeom>
        </p:spPr>
        <p:txBody>
          <a:bodyPr anchor="t" rtlCol="false" tIns="0" lIns="0" bIns="0" rIns="0">
            <a:spAutoFit/>
          </a:bodyPr>
          <a:lstStyle/>
          <a:p>
            <a:pPr algn="l">
              <a:lnSpc>
                <a:spcPts val="3644"/>
              </a:lnSpc>
            </a:pPr>
            <a:r>
              <a:rPr lang="en-US" sz="3037">
                <a:solidFill>
                  <a:srgbClr val="2864DC"/>
                </a:solidFill>
                <a:latin typeface="Noto Sans Kr"/>
                <a:ea typeface="Noto Sans Kr"/>
                <a:cs typeface="Noto Sans Kr"/>
                <a:sym typeface="Noto Sans Kr"/>
              </a:rPr>
              <a:t>미완료이면 다시 계획</a:t>
            </a:r>
          </a:p>
        </p:txBody>
      </p:sp>
      <p:grpSp>
        <p:nvGrpSpPr>
          <p:cNvPr name="Group 26" id="26"/>
          <p:cNvGrpSpPr/>
          <p:nvPr/>
        </p:nvGrpSpPr>
        <p:grpSpPr>
          <a:xfrm rot="0">
            <a:off x="928688" y="5957888"/>
            <a:ext cx="11101388" cy="2371725"/>
            <a:chOff x="0" y="0"/>
            <a:chExt cx="14801850" cy="3162300"/>
          </a:xfrm>
        </p:grpSpPr>
        <p:sp>
          <p:nvSpPr>
            <p:cNvPr name="Freeform 27" id="27"/>
            <p:cNvSpPr/>
            <p:nvPr/>
          </p:nvSpPr>
          <p:spPr>
            <a:xfrm flipH="false" flipV="false" rot="0">
              <a:off x="0" y="0"/>
              <a:ext cx="14801850" cy="3162300"/>
            </a:xfrm>
            <a:custGeom>
              <a:avLst/>
              <a:gdLst/>
              <a:ahLst/>
              <a:cxnLst/>
              <a:rect r="r" b="b" t="t" l="l"/>
              <a:pathLst>
                <a:path h="3162300" w="14801850">
                  <a:moveTo>
                    <a:pt x="0" y="0"/>
                  </a:moveTo>
                  <a:lnTo>
                    <a:pt x="14801850" y="0"/>
                  </a:lnTo>
                  <a:lnTo>
                    <a:pt x="14801850" y="3162300"/>
                  </a:lnTo>
                  <a:lnTo>
                    <a:pt x="0" y="3162300"/>
                  </a:lnTo>
                  <a:close/>
                </a:path>
              </a:pathLst>
            </a:custGeom>
            <a:solidFill>
              <a:srgbClr val="E9EEF5"/>
            </a:solidFill>
          </p:spPr>
        </p:sp>
      </p:grpSp>
      <p:sp>
        <p:nvSpPr>
          <p:cNvPr name="TextBox 28" id="28"/>
          <p:cNvSpPr txBox="true"/>
          <p:nvPr/>
        </p:nvSpPr>
        <p:spPr>
          <a:xfrm rot="0">
            <a:off x="1243012" y="6253163"/>
            <a:ext cx="1047273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lambda s: "analyze"</a:t>
            </a:r>
          </a:p>
        </p:txBody>
      </p:sp>
      <p:sp>
        <p:nvSpPr>
          <p:cNvPr name="TextBox 29" id="29"/>
          <p:cNvSpPr txBox="true"/>
          <p:nvPr/>
        </p:nvSpPr>
        <p:spPr>
          <a:xfrm rot="0">
            <a:off x="1243012" y="6910387"/>
            <a:ext cx="1047273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if s["investigation"]["phase"] == "stopped"</a:t>
            </a:r>
          </a:p>
        </p:txBody>
      </p:sp>
      <p:sp>
        <p:nvSpPr>
          <p:cNvPr name="TextBox 30" id="30"/>
          <p:cNvSpPr txBox="true"/>
          <p:nvPr/>
        </p:nvSpPr>
        <p:spPr>
          <a:xfrm rot="0">
            <a:off x="1243012" y="7567613"/>
            <a:ext cx="1047273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else "investigate_plan"</a:t>
            </a:r>
          </a:p>
        </p:txBody>
      </p:sp>
      <p:sp>
        <p:nvSpPr>
          <p:cNvPr name="TextBox 31" id="31"/>
          <p:cNvSpPr txBox="true"/>
          <p:nvPr/>
        </p:nvSpPr>
        <p:spPr>
          <a:xfrm rot="0">
            <a:off x="12987338" y="6172200"/>
            <a:ext cx="4386262" cy="514404"/>
          </a:xfrm>
          <a:prstGeom prst="rect">
            <a:avLst/>
          </a:prstGeom>
        </p:spPr>
        <p:txBody>
          <a:bodyPr anchor="t" rtlCol="false" tIns="0" lIns="0" bIns="0" rIns="0">
            <a:spAutoFit/>
          </a:bodyPr>
          <a:lstStyle/>
          <a:p>
            <a:pPr algn="l">
              <a:lnSpc>
                <a:spcPts val="4050"/>
              </a:lnSpc>
            </a:pPr>
            <a:r>
              <a:rPr lang="en-US" sz="3375" b="true">
                <a:solidFill>
                  <a:srgbClr val="2864DC"/>
                </a:solidFill>
                <a:latin typeface="Noto Sans Kr Bold"/>
                <a:ea typeface="Noto Sans Kr Bold"/>
                <a:cs typeface="Noto Sans Kr Bold"/>
                <a:sym typeface="Noto Sans Kr Bold"/>
              </a:rPr>
              <a:t>LLM은 다음 질문 선택</a:t>
            </a:r>
          </a:p>
        </p:txBody>
      </p:sp>
      <p:sp>
        <p:nvSpPr>
          <p:cNvPr name="TextBox 32" id="32"/>
          <p:cNvSpPr txBox="true"/>
          <p:nvPr/>
        </p:nvSpPr>
        <p:spPr>
          <a:xfrm rot="0">
            <a:off x="12987338" y="6924675"/>
            <a:ext cx="4386262"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사전 조건으로 코드 판정</a:t>
            </a:r>
          </a:p>
        </p:txBody>
      </p:sp>
      <p:sp>
        <p:nvSpPr>
          <p:cNvPr name="TextBox 33" id="33"/>
          <p:cNvSpPr txBox="true"/>
          <p:nvPr/>
        </p:nvSpPr>
        <p:spPr>
          <a:xfrm rot="0">
            <a:off x="12987338" y="7867650"/>
            <a:ext cx="4386262"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같은 5분 · 최대 4회</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OBSERVATION &amp; DECISION</a:t>
            </a:r>
          </a:p>
        </p:txBody>
      </p:sp>
      <p:sp>
        <p:nvSpPr>
          <p:cNvPr name="TextBox 3" id="3"/>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추가 관측으로 달라진 판단</a:t>
            </a:r>
          </a:p>
        </p:txBody>
      </p:sp>
      <p:sp>
        <p:nvSpPr>
          <p:cNvPr name="AutoShape 4" id="4"/>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5" id="5"/>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실제 LLM 실행 / 합성 관측 / agent/investigation.py 285~303행</a:t>
            </a:r>
          </a:p>
        </p:txBody>
      </p:sp>
      <p:sp>
        <p:nvSpPr>
          <p:cNvPr name="TextBox 6" id="6"/>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05</a:t>
            </a:r>
          </a:p>
        </p:txBody>
      </p:sp>
      <p:sp>
        <p:nvSpPr>
          <p:cNvPr name="TextBox 7" id="7"/>
          <p:cNvSpPr txBox="true"/>
          <p:nvPr/>
        </p:nvSpPr>
        <p:spPr>
          <a:xfrm rot="0">
            <a:off x="914400" y="2719387"/>
            <a:ext cx="3643312" cy="504852"/>
          </a:xfrm>
          <a:prstGeom prst="rect">
            <a:avLst/>
          </a:prstGeom>
        </p:spPr>
        <p:txBody>
          <a:bodyPr anchor="t" rtlCol="false" tIns="0" lIns="0" bIns="0" rIns="0">
            <a:spAutoFit/>
          </a:bodyPr>
          <a:lstStyle/>
          <a:p>
            <a:pPr algn="l">
              <a:lnSpc>
                <a:spcPts val="3915"/>
              </a:lnSpc>
            </a:pPr>
            <a:r>
              <a:rPr lang="en-US" sz="3262">
                <a:solidFill>
                  <a:srgbClr val="526176"/>
                </a:solidFill>
                <a:latin typeface="Noto Sans Kr"/>
                <a:ea typeface="Noto Sans Kr"/>
                <a:cs typeface="Noto Sans Kr"/>
                <a:sym typeface="Noto Sans Kr"/>
              </a:rPr>
              <a:t>시작 관측</a:t>
            </a:r>
          </a:p>
        </p:txBody>
      </p:sp>
      <p:sp>
        <p:nvSpPr>
          <p:cNvPr name="TextBox 8" id="8"/>
          <p:cNvSpPr txBox="true"/>
          <p:nvPr/>
        </p:nvSpPr>
        <p:spPr>
          <a:xfrm rot="0">
            <a:off x="914400" y="3386138"/>
            <a:ext cx="14895674" cy="1438221"/>
          </a:xfrm>
          <a:prstGeom prst="rect">
            <a:avLst/>
          </a:prstGeom>
        </p:spPr>
        <p:txBody>
          <a:bodyPr anchor="t" rtlCol="false" tIns="0" lIns="0" bIns="0" rIns="0">
            <a:spAutoFit/>
          </a:bodyPr>
          <a:lstStyle/>
          <a:p>
            <a:pPr algn="l">
              <a:lnSpc>
                <a:spcPts val="11340"/>
              </a:lnSpc>
            </a:pPr>
            <a:r>
              <a:rPr lang="en-US" sz="9450" b="true">
                <a:solidFill>
                  <a:srgbClr val="142338"/>
                </a:solidFill>
                <a:latin typeface="Noto Sans Kr Bold"/>
                <a:ea typeface="Noto Sans Kr Bold"/>
                <a:cs typeface="Noto Sans Kr Bold"/>
                <a:sym typeface="Noto Sans Kr Bold"/>
              </a:rPr>
              <a:t>CPU 91%</a:t>
            </a:r>
          </a:p>
        </p:txBody>
      </p:sp>
      <p:sp>
        <p:nvSpPr>
          <p:cNvPr name="AutoShape 9" id="9"/>
          <p:cNvSpPr/>
          <p:nvPr/>
        </p:nvSpPr>
        <p:spPr>
          <a:xfrm rot="4500">
            <a:off x="903675" y="5138738"/>
            <a:ext cx="16480650" cy="0"/>
          </a:xfrm>
          <a:prstGeom prst="line">
            <a:avLst/>
          </a:prstGeom>
          <a:ln cap="rnd" w="9525">
            <a:solidFill>
              <a:srgbClr val="D2DBE6"/>
            </a:solidFill>
            <a:prstDash val="solid"/>
            <a:headEnd type="none" len="sm" w="sm"/>
            <a:tailEnd type="none" len="sm" w="sm"/>
          </a:ln>
        </p:spPr>
      </p:sp>
      <p:sp>
        <p:nvSpPr>
          <p:cNvPr name="TextBox 10" id="10"/>
          <p:cNvSpPr txBox="true"/>
          <p:nvPr/>
        </p:nvSpPr>
        <p:spPr>
          <a:xfrm rot="0">
            <a:off x="914400" y="5581650"/>
            <a:ext cx="7143750" cy="571446"/>
          </a:xfrm>
          <a:prstGeom prst="rect">
            <a:avLst/>
          </a:prstGeom>
        </p:spPr>
        <p:txBody>
          <a:bodyPr anchor="t" rtlCol="false" tIns="0" lIns="0" bIns="0" rIns="0">
            <a:spAutoFit/>
          </a:bodyPr>
          <a:lstStyle/>
          <a:p>
            <a:pPr algn="l">
              <a:lnSpc>
                <a:spcPts val="4590"/>
              </a:lnSpc>
            </a:pPr>
            <a:r>
              <a:rPr lang="en-US" sz="3825" b="true">
                <a:solidFill>
                  <a:srgbClr val="B84545"/>
                </a:solidFill>
                <a:latin typeface="Noto Sans Kr Bold"/>
                <a:ea typeface="Noto Sans Kr Bold"/>
                <a:cs typeface="Noto Sans Kr Bold"/>
                <a:sym typeface="Noto Sans Kr Bold"/>
              </a:rPr>
              <a:t>배치 가설 반증</a:t>
            </a:r>
          </a:p>
        </p:txBody>
      </p:sp>
      <p:sp>
        <p:nvSpPr>
          <p:cNvPr name="TextBox 11" id="11"/>
          <p:cNvSpPr txBox="true"/>
          <p:nvPr/>
        </p:nvSpPr>
        <p:spPr>
          <a:xfrm rot="0">
            <a:off x="914400" y="6305550"/>
            <a:ext cx="7082392" cy="1857429"/>
          </a:xfrm>
          <a:prstGeom prst="rect">
            <a:avLst/>
          </a:prstGeom>
        </p:spPr>
        <p:txBody>
          <a:bodyPr anchor="t" rtlCol="false" tIns="0" lIns="0" bIns="0" rIns="0">
            <a:spAutoFit/>
          </a:bodyPr>
          <a:lstStyle/>
          <a:p>
            <a:pPr algn="l">
              <a:lnSpc>
                <a:spcPts val="14579"/>
              </a:lnSpc>
            </a:pPr>
            <a:r>
              <a:rPr lang="en-US" sz="12150" b="true">
                <a:solidFill>
                  <a:srgbClr val="B84545"/>
                </a:solidFill>
                <a:latin typeface="Noto Sans Kr Bold"/>
                <a:ea typeface="Noto Sans Kr Bold"/>
                <a:cs typeface="Noto Sans Kr Bold"/>
                <a:sym typeface="Noto Sans Kr Bold"/>
              </a:rPr>
              <a:t>5%</a:t>
            </a:r>
          </a:p>
        </p:txBody>
      </p:sp>
      <p:sp>
        <p:nvSpPr>
          <p:cNvPr name="TextBox 12" id="12"/>
          <p:cNvSpPr txBox="true"/>
          <p:nvPr/>
        </p:nvSpPr>
        <p:spPr>
          <a:xfrm rot="0">
            <a:off x="914400" y="8291513"/>
            <a:ext cx="7143750" cy="504852"/>
          </a:xfrm>
          <a:prstGeom prst="rect">
            <a:avLst/>
          </a:prstGeom>
        </p:spPr>
        <p:txBody>
          <a:bodyPr anchor="t" rtlCol="false" tIns="0" lIns="0" bIns="0" rIns="0">
            <a:spAutoFit/>
          </a:bodyPr>
          <a:lstStyle/>
          <a:p>
            <a:pPr algn="l">
              <a:lnSpc>
                <a:spcPts val="3915"/>
              </a:lnSpc>
            </a:pPr>
            <a:r>
              <a:rPr lang="en-US" sz="3262">
                <a:solidFill>
                  <a:srgbClr val="526176"/>
                </a:solidFill>
                <a:latin typeface="Noto Sans Kr"/>
                <a:ea typeface="Noto Sans Kr"/>
                <a:cs typeface="Noto Sans Kr"/>
                <a:sym typeface="Noto Sans Kr"/>
              </a:rPr>
              <a:t>배치의 CPU 기여</a:t>
            </a:r>
          </a:p>
        </p:txBody>
      </p:sp>
      <p:sp>
        <p:nvSpPr>
          <p:cNvPr name="TextBox 13" id="13"/>
          <p:cNvSpPr txBox="true"/>
          <p:nvPr/>
        </p:nvSpPr>
        <p:spPr>
          <a:xfrm rot="0">
            <a:off x="9358312" y="5581650"/>
            <a:ext cx="8015288" cy="571446"/>
          </a:xfrm>
          <a:prstGeom prst="rect">
            <a:avLst/>
          </a:prstGeom>
        </p:spPr>
        <p:txBody>
          <a:bodyPr anchor="t" rtlCol="false" tIns="0" lIns="0" bIns="0" rIns="0">
            <a:spAutoFit/>
          </a:bodyPr>
          <a:lstStyle/>
          <a:p>
            <a:pPr algn="l">
              <a:lnSpc>
                <a:spcPts val="4590"/>
              </a:lnSpc>
            </a:pPr>
            <a:r>
              <a:rPr lang="en-US" sz="3825" b="true">
                <a:solidFill>
                  <a:srgbClr val="087E75"/>
                </a:solidFill>
                <a:latin typeface="Noto Sans Kr Bold"/>
                <a:ea typeface="Noto Sans Kr Bold"/>
                <a:cs typeface="Noto Sans Kr Bold"/>
                <a:sym typeface="Noto Sans Kr Bold"/>
              </a:rPr>
              <a:t>요청량 가설 교차 지지</a:t>
            </a:r>
          </a:p>
        </p:txBody>
      </p:sp>
      <p:sp>
        <p:nvSpPr>
          <p:cNvPr name="TextBox 14" id="14"/>
          <p:cNvSpPr txBox="true"/>
          <p:nvPr/>
        </p:nvSpPr>
        <p:spPr>
          <a:xfrm rot="0">
            <a:off x="9358312" y="6324600"/>
            <a:ext cx="3929062" cy="1628802"/>
          </a:xfrm>
          <a:prstGeom prst="rect">
            <a:avLst/>
          </a:prstGeom>
        </p:spPr>
        <p:txBody>
          <a:bodyPr anchor="t" rtlCol="false" tIns="0" lIns="0" bIns="0" rIns="0">
            <a:spAutoFit/>
          </a:bodyPr>
          <a:lstStyle/>
          <a:p>
            <a:pPr algn="l">
              <a:lnSpc>
                <a:spcPts val="12960"/>
              </a:lnSpc>
            </a:pPr>
            <a:r>
              <a:rPr lang="en-US" sz="10800" b="true">
                <a:solidFill>
                  <a:srgbClr val="087E75"/>
                </a:solidFill>
                <a:latin typeface="Noto Sans Kr Bold"/>
                <a:ea typeface="Noto Sans Kr Bold"/>
                <a:cs typeface="Noto Sans Kr Bold"/>
                <a:sym typeface="Noto Sans Kr Bold"/>
              </a:rPr>
              <a:t>88%</a:t>
            </a:r>
          </a:p>
        </p:txBody>
      </p:sp>
      <p:sp>
        <p:nvSpPr>
          <p:cNvPr name="TextBox 15" id="15"/>
          <p:cNvSpPr txBox="true"/>
          <p:nvPr/>
        </p:nvSpPr>
        <p:spPr>
          <a:xfrm rot="0">
            <a:off x="13601700" y="6315075"/>
            <a:ext cx="3786188" cy="1485846"/>
          </a:xfrm>
          <a:prstGeom prst="rect">
            <a:avLst/>
          </a:prstGeom>
        </p:spPr>
        <p:txBody>
          <a:bodyPr anchor="t" rtlCol="false" tIns="0" lIns="0" bIns="0" rIns="0">
            <a:spAutoFit/>
          </a:bodyPr>
          <a:lstStyle/>
          <a:p>
            <a:pPr algn="l">
              <a:lnSpc>
                <a:spcPts val="11744"/>
              </a:lnSpc>
            </a:pPr>
            <a:r>
              <a:rPr lang="en-US" sz="9787" b="true">
                <a:solidFill>
                  <a:srgbClr val="087E75"/>
                </a:solidFill>
                <a:latin typeface="Noto Sans Kr Bold"/>
                <a:ea typeface="Noto Sans Kr Bold"/>
                <a:cs typeface="Noto Sans Kr Bold"/>
                <a:sym typeface="Noto Sans Kr Bold"/>
              </a:rPr>
              <a:t>3.2배</a:t>
            </a:r>
          </a:p>
        </p:txBody>
      </p:sp>
      <p:sp>
        <p:nvSpPr>
          <p:cNvPr name="TextBox 16" id="16"/>
          <p:cNvSpPr txBox="true"/>
          <p:nvPr/>
        </p:nvSpPr>
        <p:spPr>
          <a:xfrm rot="0">
            <a:off x="9358312" y="8301038"/>
            <a:ext cx="3929062" cy="457173"/>
          </a:xfrm>
          <a:prstGeom prst="rect">
            <a:avLst/>
          </a:prstGeom>
        </p:spPr>
        <p:txBody>
          <a:bodyPr anchor="t" rtlCol="false" tIns="0" lIns="0" bIns="0" rIns="0">
            <a:spAutoFit/>
          </a:bodyPr>
          <a:lstStyle/>
          <a:p>
            <a:pPr algn="l">
              <a:lnSpc>
                <a:spcPts val="3644"/>
              </a:lnSpc>
            </a:pPr>
            <a:r>
              <a:rPr lang="en-US" sz="3037">
                <a:solidFill>
                  <a:srgbClr val="526176"/>
                </a:solidFill>
                <a:latin typeface="Noto Sans Kr"/>
                <a:ea typeface="Noto Sans Kr"/>
                <a:cs typeface="Noto Sans Kr"/>
                <a:sym typeface="Noto Sans Kr"/>
              </a:rPr>
              <a:t>요청 처리 CPU 기여</a:t>
            </a:r>
          </a:p>
        </p:txBody>
      </p:sp>
      <p:sp>
        <p:nvSpPr>
          <p:cNvPr name="TextBox 17" id="17"/>
          <p:cNvSpPr txBox="true"/>
          <p:nvPr/>
        </p:nvSpPr>
        <p:spPr>
          <a:xfrm rot="0">
            <a:off x="13644562" y="8301038"/>
            <a:ext cx="3714750" cy="457173"/>
          </a:xfrm>
          <a:prstGeom prst="rect">
            <a:avLst/>
          </a:prstGeom>
        </p:spPr>
        <p:txBody>
          <a:bodyPr anchor="t" rtlCol="false" tIns="0" lIns="0" bIns="0" rIns="0">
            <a:spAutoFit/>
          </a:bodyPr>
          <a:lstStyle/>
          <a:p>
            <a:pPr algn="l">
              <a:lnSpc>
                <a:spcPts val="3644"/>
              </a:lnSpc>
            </a:pPr>
            <a:r>
              <a:rPr lang="en-US" sz="3037">
                <a:solidFill>
                  <a:srgbClr val="526176"/>
                </a:solidFill>
                <a:latin typeface="Noto Sans Kr"/>
                <a:ea typeface="Noto Sans Kr"/>
                <a:cs typeface="Noto Sans Kr"/>
                <a:sym typeface="Noto Sans Kr"/>
              </a:rPr>
              <a:t>요청량</a:t>
            </a:r>
          </a:p>
        </p:txBody>
      </p:sp>
      <p:sp>
        <p:nvSpPr>
          <p:cNvPr name="TextBox 18" id="18"/>
          <p:cNvSpPr txBox="true"/>
          <p:nvPr/>
        </p:nvSpPr>
        <p:spPr>
          <a:xfrm rot="0">
            <a:off x="9358312" y="9001125"/>
            <a:ext cx="8015288" cy="371529"/>
          </a:xfrm>
          <a:prstGeom prst="rect">
            <a:avLst/>
          </a:prstGeom>
        </p:spPr>
        <p:txBody>
          <a:bodyPr anchor="t" rtlCol="false" tIns="0" lIns="0" bIns="0" rIns="0">
            <a:spAutoFit/>
          </a:bodyPr>
          <a:lstStyle/>
          <a:p>
            <a:pPr algn="l">
              <a:lnSpc>
                <a:spcPts val="2970"/>
              </a:lnSpc>
            </a:pPr>
            <a:r>
              <a:rPr lang="en-US" sz="2475">
                <a:solidFill>
                  <a:srgbClr val="526176"/>
                </a:solidFill>
                <a:latin typeface="Noto Sans Kr"/>
                <a:ea typeface="Noto Sans Kr"/>
                <a:cs typeface="Noto Sans Kr"/>
                <a:sym typeface="Noto Sans Kr"/>
              </a:rPr>
              <a:t>교차 지지는 인과 확정을 뜻하지 않습니다</a:t>
            </a:r>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VALIDATION &amp; EVALUATION</a:t>
            </a:r>
          </a:p>
        </p:txBody>
      </p:sp>
      <p:sp>
        <p:nvSpPr>
          <p:cNvPr name="TextBox 3" id="3"/>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코드 검증과 별도 의미 평가</a:t>
            </a:r>
          </a:p>
        </p:txBody>
      </p:sp>
      <p:sp>
        <p:nvSpPr>
          <p:cNvPr name="AutoShape 4" id="4"/>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5" id="5"/>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agent/validation.py 25~39행 / agent/judge.py 85~102행</a:t>
            </a:r>
          </a:p>
        </p:txBody>
      </p:sp>
      <p:sp>
        <p:nvSpPr>
          <p:cNvPr name="TextBox 6" id="6"/>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06</a:t>
            </a:r>
          </a:p>
        </p:txBody>
      </p:sp>
      <p:sp>
        <p:nvSpPr>
          <p:cNvPr name="TextBox 7" id="7"/>
          <p:cNvSpPr txBox="true"/>
          <p:nvPr/>
        </p:nvSpPr>
        <p:spPr>
          <a:xfrm rot="0">
            <a:off x="914400" y="2586038"/>
            <a:ext cx="16459200" cy="562029"/>
          </a:xfrm>
          <a:prstGeom prst="rect">
            <a:avLst/>
          </a:prstGeom>
        </p:spPr>
        <p:txBody>
          <a:bodyPr anchor="t" rtlCol="false" tIns="0" lIns="0" bIns="0" rIns="0">
            <a:spAutoFit/>
          </a:bodyPr>
          <a:lstStyle/>
          <a:p>
            <a:pPr algn="l">
              <a:lnSpc>
                <a:spcPts val="4455"/>
              </a:lnSpc>
            </a:pPr>
            <a:r>
              <a:rPr lang="en-US" sz="3712">
                <a:solidFill>
                  <a:srgbClr val="526176"/>
                </a:solidFill>
                <a:latin typeface="Noto Sans Kr"/>
                <a:ea typeface="Noto Sans Kr"/>
                <a:cs typeface="Noto Sans Kr"/>
                <a:sym typeface="Noto Sans Kr"/>
              </a:rPr>
              <a:t>수치 · 출처 · 조치 조건을 코드로 검사합니다</a:t>
            </a:r>
          </a:p>
        </p:txBody>
      </p:sp>
      <p:grpSp>
        <p:nvGrpSpPr>
          <p:cNvPr name="Group 8" id="8"/>
          <p:cNvGrpSpPr/>
          <p:nvPr/>
        </p:nvGrpSpPr>
        <p:grpSpPr>
          <a:xfrm rot="0">
            <a:off x="928688" y="3729038"/>
            <a:ext cx="11272838" cy="2971800"/>
            <a:chOff x="0" y="0"/>
            <a:chExt cx="15030450" cy="3962400"/>
          </a:xfrm>
        </p:grpSpPr>
        <p:sp>
          <p:nvSpPr>
            <p:cNvPr name="Freeform 9" id="9"/>
            <p:cNvSpPr/>
            <p:nvPr/>
          </p:nvSpPr>
          <p:spPr>
            <a:xfrm flipH="false" flipV="false" rot="0">
              <a:off x="0" y="0"/>
              <a:ext cx="15030450" cy="3962400"/>
            </a:xfrm>
            <a:custGeom>
              <a:avLst/>
              <a:gdLst/>
              <a:ahLst/>
              <a:cxnLst/>
              <a:rect r="r" b="b" t="t" l="l"/>
              <a:pathLst>
                <a:path h="3962400" w="15030450">
                  <a:moveTo>
                    <a:pt x="0" y="0"/>
                  </a:moveTo>
                  <a:lnTo>
                    <a:pt x="15030450" y="0"/>
                  </a:lnTo>
                  <a:lnTo>
                    <a:pt x="15030450" y="3962400"/>
                  </a:lnTo>
                  <a:lnTo>
                    <a:pt x="0" y="3962400"/>
                  </a:lnTo>
                  <a:close/>
                </a:path>
              </a:pathLst>
            </a:custGeom>
            <a:solidFill>
              <a:srgbClr val="E9EEF5"/>
            </a:solidFill>
          </p:spPr>
        </p:sp>
      </p:grpSp>
      <p:sp>
        <p:nvSpPr>
          <p:cNvPr name="TextBox 10" id="10"/>
          <p:cNvSpPr txBox="true"/>
          <p:nvPr/>
        </p:nvSpPr>
        <p:spPr>
          <a:xfrm rot="0">
            <a:off x="1243012" y="4024313"/>
            <a:ext cx="1064418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if obj["facts"] != report["facts"]:</a:t>
            </a:r>
          </a:p>
        </p:txBody>
      </p:sp>
      <p:sp>
        <p:nvSpPr>
          <p:cNvPr name="TextBox 11" id="11"/>
          <p:cNvSpPr txBox="true"/>
          <p:nvPr/>
        </p:nvSpPr>
        <p:spPr>
          <a:xfrm rot="0">
            <a:off x="1643062" y="4667250"/>
            <a:ext cx="1024413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errors.append(</a:t>
            </a:r>
          </a:p>
        </p:txBody>
      </p:sp>
      <p:sp>
        <p:nvSpPr>
          <p:cNvPr name="TextBox 12" id="12"/>
          <p:cNvSpPr txBox="true"/>
          <p:nvPr/>
        </p:nvSpPr>
        <p:spPr>
          <a:xfrm rot="0">
            <a:off x="2043112" y="5310187"/>
            <a:ext cx="984408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"조회 결과 불일치")</a:t>
            </a:r>
          </a:p>
        </p:txBody>
      </p:sp>
      <p:sp>
        <p:nvSpPr>
          <p:cNvPr name="TextBox 13" id="13"/>
          <p:cNvSpPr txBox="true"/>
          <p:nvPr/>
        </p:nvSpPr>
        <p:spPr>
          <a:xfrm rot="0">
            <a:off x="1243012" y="5953125"/>
            <a:ext cx="10644188" cy="466725"/>
          </a:xfrm>
          <a:prstGeom prst="rect">
            <a:avLst/>
          </a:prstGeom>
        </p:spPr>
        <p:txBody>
          <a:bodyPr anchor="t" rtlCol="false" tIns="0" lIns="0" bIns="0" rIns="0">
            <a:spAutoFit/>
          </a:bodyPr>
          <a:lstStyle/>
          <a:p>
            <a:pPr algn="l">
              <a:lnSpc>
                <a:spcPts val="3779"/>
              </a:lnSpc>
            </a:pPr>
            <a:r>
              <a:rPr lang="en-US" sz="3150">
                <a:solidFill>
                  <a:srgbClr val="142338"/>
                </a:solidFill>
                <a:latin typeface="Noto Sans Kr"/>
                <a:ea typeface="Noto Sans Kr"/>
                <a:cs typeface="Noto Sans Kr"/>
                <a:sym typeface="Noto Sans Kr"/>
              </a:rPr>
              <a:t>allowed = {c["id"] for c in candidates}</a:t>
            </a:r>
          </a:p>
        </p:txBody>
      </p:sp>
      <p:sp>
        <p:nvSpPr>
          <p:cNvPr name="TextBox 14" id="14"/>
          <p:cNvSpPr txBox="true"/>
          <p:nvPr/>
        </p:nvSpPr>
        <p:spPr>
          <a:xfrm rot="0">
            <a:off x="1243012" y="6915150"/>
            <a:ext cx="10001250" cy="409548"/>
          </a:xfrm>
          <a:prstGeom prst="rect">
            <a:avLst/>
          </a:prstGeom>
        </p:spPr>
        <p:txBody>
          <a:bodyPr anchor="t" rtlCol="false" tIns="0" lIns="0" bIns="0" rIns="0">
            <a:spAutoFit/>
          </a:bodyPr>
          <a:lstStyle/>
          <a:p>
            <a:pPr algn="l">
              <a:lnSpc>
                <a:spcPts val="3240"/>
              </a:lnSpc>
            </a:pPr>
            <a:r>
              <a:rPr lang="en-US" sz="2700">
                <a:solidFill>
                  <a:srgbClr val="526176"/>
                </a:solidFill>
                <a:latin typeface="Noto Sans Kr"/>
                <a:ea typeface="Noto Sans Kr"/>
                <a:cs typeface="Noto Sans Kr"/>
                <a:sym typeface="Noto Sans Kr"/>
              </a:rPr>
              <a:t>오류 문구 축약</a:t>
            </a:r>
          </a:p>
        </p:txBody>
      </p:sp>
      <p:sp>
        <p:nvSpPr>
          <p:cNvPr name="TextBox 15" id="15"/>
          <p:cNvSpPr txBox="true"/>
          <p:nvPr/>
        </p:nvSpPr>
        <p:spPr>
          <a:xfrm rot="0">
            <a:off x="13101638" y="3971925"/>
            <a:ext cx="4271962" cy="562029"/>
          </a:xfrm>
          <a:prstGeom prst="rect">
            <a:avLst/>
          </a:prstGeom>
        </p:spPr>
        <p:txBody>
          <a:bodyPr anchor="t" rtlCol="false" tIns="0" lIns="0" bIns="0" rIns="0">
            <a:spAutoFit/>
          </a:bodyPr>
          <a:lstStyle/>
          <a:p>
            <a:pPr algn="l">
              <a:lnSpc>
                <a:spcPts val="4455"/>
              </a:lnSpc>
            </a:pPr>
            <a:r>
              <a:rPr lang="en-US" sz="3712" b="true">
                <a:solidFill>
                  <a:srgbClr val="2864DC"/>
                </a:solidFill>
                <a:latin typeface="Noto Sans Kr Bold"/>
                <a:ea typeface="Noto Sans Kr Bold"/>
                <a:cs typeface="Noto Sans Kr Bold"/>
                <a:sym typeface="Noto Sans Kr Bold"/>
              </a:rPr>
              <a:t>재작성 최대 3회</a:t>
            </a:r>
          </a:p>
        </p:txBody>
      </p:sp>
      <p:sp>
        <p:nvSpPr>
          <p:cNvPr name="TextBox 16" id="16"/>
          <p:cNvSpPr txBox="true"/>
          <p:nvPr/>
        </p:nvSpPr>
        <p:spPr>
          <a:xfrm rot="0">
            <a:off x="13101638" y="4862513"/>
            <a:ext cx="4271962" cy="1000179"/>
          </a:xfrm>
          <a:prstGeom prst="rect">
            <a:avLst/>
          </a:prstGeom>
        </p:spPr>
        <p:txBody>
          <a:bodyPr anchor="t" rtlCol="false" tIns="0" lIns="0" bIns="0" rIns="0">
            <a:spAutoFit/>
          </a:bodyPr>
          <a:lstStyle/>
          <a:p>
            <a:pPr algn="l">
              <a:lnSpc>
                <a:spcPts val="3915"/>
              </a:lnSpc>
            </a:pPr>
            <a:r>
              <a:rPr lang="en-US" sz="3262">
                <a:solidFill>
                  <a:srgbClr val="142338"/>
                </a:solidFill>
                <a:latin typeface="Noto Sans Kr"/>
                <a:ea typeface="Noto Sans Kr"/>
                <a:cs typeface="Noto Sans Kr"/>
                <a:sym typeface="Noto Sans Kr"/>
              </a:rPr>
              <a:t>반복 실패 시</a:t>
            </a:r>
          </a:p>
          <a:p>
            <a:pPr algn="l">
              <a:lnSpc>
                <a:spcPts val="3915"/>
              </a:lnSpc>
            </a:pPr>
            <a:r>
              <a:rPr lang="en-US" sz="3262">
                <a:solidFill>
                  <a:srgbClr val="142338"/>
                </a:solidFill>
                <a:latin typeface="Noto Sans Kr"/>
                <a:ea typeface="Noto Sans Kr"/>
                <a:cs typeface="Noto Sans Kr"/>
                <a:sym typeface="Noto Sans Kr"/>
              </a:rPr>
              <a:t>확인된 관측만 제공</a:t>
            </a:r>
          </a:p>
        </p:txBody>
      </p:sp>
      <p:sp>
        <p:nvSpPr>
          <p:cNvPr name="AutoShape 17" id="17"/>
          <p:cNvSpPr/>
          <p:nvPr/>
        </p:nvSpPr>
        <p:spPr>
          <a:xfrm rot="4500">
            <a:off x="903675" y="7839075"/>
            <a:ext cx="16480650" cy="0"/>
          </a:xfrm>
          <a:prstGeom prst="line">
            <a:avLst/>
          </a:prstGeom>
          <a:ln cap="rnd" w="9525">
            <a:solidFill>
              <a:srgbClr val="D2DBE6"/>
            </a:solidFill>
            <a:prstDash val="solid"/>
            <a:headEnd type="none" len="sm" w="sm"/>
            <a:tailEnd type="none" len="sm" w="sm"/>
          </a:ln>
        </p:spPr>
      </p:sp>
      <p:sp>
        <p:nvSpPr>
          <p:cNvPr name="TextBox 18" id="18"/>
          <p:cNvSpPr txBox="true"/>
          <p:nvPr/>
        </p:nvSpPr>
        <p:spPr>
          <a:xfrm rot="0">
            <a:off x="914400" y="8239125"/>
            <a:ext cx="4214812" cy="514350"/>
          </a:xfrm>
          <a:prstGeom prst="rect">
            <a:avLst/>
          </a:prstGeom>
        </p:spPr>
        <p:txBody>
          <a:bodyPr anchor="t" rtlCol="false" tIns="0" lIns="0" bIns="0" rIns="0">
            <a:spAutoFit/>
          </a:bodyPr>
          <a:lstStyle/>
          <a:p>
            <a:pPr algn="l">
              <a:lnSpc>
                <a:spcPts val="4185"/>
              </a:lnSpc>
            </a:pPr>
            <a:r>
              <a:rPr lang="en-US" sz="3487" b="true">
                <a:solidFill>
                  <a:srgbClr val="2864DC"/>
                </a:solidFill>
                <a:latin typeface="Noto Sans Kr Bold"/>
                <a:ea typeface="Noto Sans Kr Bold"/>
                <a:cs typeface="Noto Sans Kr Bold"/>
                <a:sym typeface="Noto Sans Kr Bold"/>
              </a:rPr>
              <a:t>별도 Judge</a:t>
            </a:r>
          </a:p>
        </p:txBody>
      </p:sp>
      <p:sp>
        <p:nvSpPr>
          <p:cNvPr name="TextBox 19" id="19"/>
          <p:cNvSpPr txBox="true"/>
          <p:nvPr/>
        </p:nvSpPr>
        <p:spPr>
          <a:xfrm rot="0">
            <a:off x="4171950" y="8277225"/>
            <a:ext cx="5229225" cy="504852"/>
          </a:xfrm>
          <a:prstGeom prst="rect">
            <a:avLst/>
          </a:prstGeom>
        </p:spPr>
        <p:txBody>
          <a:bodyPr anchor="t" rtlCol="false" tIns="0" lIns="0" bIns="0" rIns="0">
            <a:spAutoFit/>
          </a:bodyPr>
          <a:lstStyle/>
          <a:p>
            <a:pPr algn="l">
              <a:lnSpc>
                <a:spcPts val="3915"/>
              </a:lnSpc>
            </a:pPr>
            <a:r>
              <a:rPr lang="en-US" sz="3262">
                <a:solidFill>
                  <a:srgbClr val="142338"/>
                </a:solidFill>
                <a:latin typeface="Noto Sans Kr"/>
                <a:ea typeface="Noto Sans Kr"/>
                <a:cs typeface="Noto Sans Kr"/>
                <a:sym typeface="Noto Sans Kr"/>
              </a:rPr>
              <a:t>근거 충실성 평가</a:t>
            </a:r>
          </a:p>
        </p:txBody>
      </p:sp>
      <p:sp>
        <p:nvSpPr>
          <p:cNvPr name="TextBox 20" id="20"/>
          <p:cNvSpPr txBox="true"/>
          <p:nvPr/>
        </p:nvSpPr>
        <p:spPr>
          <a:xfrm rot="0">
            <a:off x="9801225" y="8239125"/>
            <a:ext cx="3714750" cy="514350"/>
          </a:xfrm>
          <a:prstGeom prst="rect">
            <a:avLst/>
          </a:prstGeom>
        </p:spPr>
        <p:txBody>
          <a:bodyPr anchor="t" rtlCol="false" tIns="0" lIns="0" bIns="0" rIns="0">
            <a:spAutoFit/>
          </a:bodyPr>
          <a:lstStyle/>
          <a:p>
            <a:pPr algn="l">
              <a:lnSpc>
                <a:spcPts val="4185"/>
              </a:lnSpc>
            </a:pPr>
            <a:r>
              <a:rPr lang="en-US" sz="3487" b="true">
                <a:solidFill>
                  <a:srgbClr val="2864DC"/>
                </a:solidFill>
                <a:latin typeface="Noto Sans Kr Bold"/>
                <a:ea typeface="Noto Sans Kr Bold"/>
                <a:cs typeface="Noto Sans Kr Bold"/>
                <a:sym typeface="Noto Sans Kr Bold"/>
              </a:rPr>
              <a:t>LangSmith</a:t>
            </a:r>
          </a:p>
        </p:txBody>
      </p:sp>
      <p:sp>
        <p:nvSpPr>
          <p:cNvPr name="TextBox 21" id="21"/>
          <p:cNvSpPr txBox="true"/>
          <p:nvPr/>
        </p:nvSpPr>
        <p:spPr>
          <a:xfrm rot="0">
            <a:off x="13030200" y="8277225"/>
            <a:ext cx="4343400" cy="504852"/>
          </a:xfrm>
          <a:prstGeom prst="rect">
            <a:avLst/>
          </a:prstGeom>
        </p:spPr>
        <p:txBody>
          <a:bodyPr anchor="t" rtlCol="false" tIns="0" lIns="0" bIns="0" rIns="0">
            <a:spAutoFit/>
          </a:bodyPr>
          <a:lstStyle/>
          <a:p>
            <a:pPr algn="l">
              <a:lnSpc>
                <a:spcPts val="3915"/>
              </a:lnSpc>
            </a:pPr>
            <a:r>
              <a:rPr lang="en-US" sz="3262">
                <a:solidFill>
                  <a:srgbClr val="142338"/>
                </a:solidFill>
                <a:latin typeface="Noto Sans Kr"/>
                <a:ea typeface="Noto Sans Kr"/>
                <a:cs typeface="Noto Sans Kr"/>
                <a:sym typeface="Noto Sans Kr"/>
              </a:rPr>
              <a:t>실행 · 점수 재조회</a:t>
            </a:r>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VERIFIED RESULTS</a:t>
            </a:r>
          </a:p>
        </p:txBody>
      </p:sp>
      <p:sp>
        <p:nvSpPr>
          <p:cNvPr name="TextBox 3" id="3"/>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서로 다른 검증 범위를 구분</a:t>
            </a:r>
          </a:p>
        </p:txBody>
      </p:sp>
      <p:sp>
        <p:nvSpPr>
          <p:cNvPr name="AutoShape 4" id="4"/>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5" id="5"/>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2026-10-21 보존 기록 / 전체 서비스 비용 절감률 미측정</a:t>
            </a:r>
          </a:p>
        </p:txBody>
      </p:sp>
      <p:sp>
        <p:nvSpPr>
          <p:cNvPr name="TextBox 6" id="6"/>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07</a:t>
            </a:r>
          </a:p>
        </p:txBody>
      </p:sp>
      <p:graphicFrame>
        <p:nvGraphicFramePr>
          <p:cNvPr name="Table 7" id="7"/>
          <p:cNvGraphicFramePr>
            <a:graphicFrameLocks noGrp="true"/>
          </p:cNvGraphicFramePr>
          <p:nvPr/>
        </p:nvGraphicFramePr>
        <p:xfrm>
          <a:off x="914400" y="3057525"/>
          <a:ext cx="16459200" cy="5667375"/>
        </p:xfrm>
        <a:graphic>
          <a:graphicData uri="http://schemas.openxmlformats.org/drawingml/2006/table">
            <a:tbl>
              <a:tblPr/>
              <a:tblGrid>
                <a:gridCol w="4613132"/>
                <a:gridCol w="4712799"/>
                <a:gridCol w="7133269"/>
              </a:tblGrid>
              <a:tr h="944563">
                <a:tc>
                  <a:txBody>
                    <a:bodyPr anchor="t" rtlCol="false"/>
                    <a:lstStyle/>
                    <a:p>
                      <a:pPr algn="l">
                        <a:lnSpc>
                          <a:spcPts val="2879"/>
                        </a:lnSpc>
                        <a:defRPr/>
                      </a:pPr>
                      <a:r>
                        <a:rPr lang="en-US" sz="2400" b="true">
                          <a:solidFill>
                            <a:srgbClr val="2864DC"/>
                          </a:solidFill>
                          <a:latin typeface="Noto Sans Kr Bold"/>
                          <a:ea typeface="Noto Sans Kr Bold"/>
                          <a:cs typeface="Noto Sans Kr Bold"/>
                          <a:sym typeface="Noto Sans Kr Bold"/>
                        </a:rPr>
                        <a:t>검증</a:t>
                      </a:r>
                      <a:endParaRPr lang="en-US" sz="1100"/>
                    </a:p>
                  </a:txBody>
                  <a:tcPr marL="0" marR="0" marT="0" marB="0" anchor="ctr">
                    <a:lnL cmpd="sng" algn="ctr" cap="flat" w="9525">
                      <a:solidFill>
                        <a:srgbClr val="D2DBE6"/>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9525">
                      <a:solidFill>
                        <a:srgbClr val="D2DBE6"/>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E9EFFB"/>
                    </a:solidFill>
                  </a:tcPr>
                </a:tc>
                <a:tc>
                  <a:txBody>
                    <a:bodyPr anchor="t" rtlCol="false"/>
                    <a:lstStyle/>
                    <a:p>
                      <a:pPr algn="l">
                        <a:lnSpc>
                          <a:spcPts val="2879"/>
                        </a:lnSpc>
                        <a:defRPr/>
                      </a:pPr>
                      <a:r>
                        <a:rPr lang="en-US" sz="2400" b="true">
                          <a:solidFill>
                            <a:srgbClr val="2864DC"/>
                          </a:solidFill>
                          <a:latin typeface="Noto Sans Kr Bold"/>
                          <a:ea typeface="Noto Sans Kr Bold"/>
                          <a:cs typeface="Noto Sans Kr Bold"/>
                          <a:sym typeface="Noto Sans Kr Bold"/>
                        </a:rPr>
                        <a:t>결과</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9525">
                      <a:solidFill>
                        <a:srgbClr val="D2DBE6"/>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E9EFFB"/>
                    </a:solidFill>
                  </a:tcPr>
                </a:tc>
                <a:tc>
                  <a:txBody>
                    <a:bodyPr anchor="t" rtlCol="false"/>
                    <a:lstStyle/>
                    <a:p>
                      <a:pPr algn="l">
                        <a:lnSpc>
                          <a:spcPts val="2879"/>
                        </a:lnSpc>
                        <a:defRPr/>
                      </a:pPr>
                      <a:r>
                        <a:rPr lang="en-US" sz="2400" b="true">
                          <a:solidFill>
                            <a:srgbClr val="2864DC"/>
                          </a:solidFill>
                          <a:latin typeface="Noto Sans Kr Bold"/>
                          <a:ea typeface="Noto Sans Kr Bold"/>
                          <a:cs typeface="Noto Sans Kr Bold"/>
                          <a:sym typeface="Noto Sans Kr Bold"/>
                        </a:rPr>
                        <a:t>실행 범위</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9525">
                      <a:solidFill>
                        <a:srgbClr val="D2DBE6"/>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E9EFFB"/>
                    </a:solidFill>
                  </a:tcPr>
                </a:tc>
              </a:tr>
              <a:tr h="944563">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자동 테스트</a:t>
                      </a:r>
                      <a:endParaRPr lang="en-US" sz="1100"/>
                    </a:p>
                  </a:txBody>
                  <a:tcPr marL="0" marR="0" marT="0" marB="0" anchor="ctr">
                    <a:lnL cmpd="sng" algn="ctr" cap="flat" w="9525">
                      <a:solidFill>
                        <a:srgbClr val="D2DBE6"/>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99개 통과</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입력 검사 포함</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r>
              <a:tr h="944563">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입력 거절 5건</a:t>
                      </a:r>
                      <a:endParaRPr lang="en-US" sz="1100"/>
                    </a:p>
                  </a:txBody>
                  <a:tcPr marL="0" marR="0" marT="0" marB="0" anchor="ctr">
                    <a:lnL cmpd="sng" algn="ctr" cap="flat" w="9525">
                      <a:solidFill>
                        <a:srgbClr val="D2DBE6"/>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b="true">
                          <a:solidFill>
                            <a:srgbClr val="2864DC"/>
                          </a:solidFill>
                          <a:latin typeface="Noto Sans Kr Bold"/>
                          <a:ea typeface="Noto Sans Kr Bold"/>
                          <a:cs typeface="Noto Sans Kr Bold"/>
                          <a:sym typeface="Noto Sans Kr Bold"/>
                        </a:rPr>
                        <a:t>생성 0토큰</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LLM · MCP 호출 0회</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r>
              <a:tr h="944563">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가설 조사 기능</a:t>
                      </a:r>
                      <a:endParaRPr lang="en-US" sz="1100"/>
                    </a:p>
                  </a:txBody>
                  <a:tcPr marL="0" marR="0" marT="0" marB="0" anchor="ctr">
                    <a:lnL cmpd="sng" algn="ctr" cap="flat" w="9525">
                      <a:solidFill>
                        <a:srgbClr val="D2DBE6"/>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6/6</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입력 검사 도입 전 평가</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r>
              <a:tr h="944563">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Judge 포함 종합</a:t>
                      </a:r>
                      <a:endParaRPr lang="en-US" sz="1100"/>
                    </a:p>
                  </a:txBody>
                  <a:tcPr marL="0" marR="0" marT="0" marB="0" anchor="ctr">
                    <a:lnL cmpd="sng" algn="ctr" cap="flat" w="9525">
                      <a:solidFill>
                        <a:srgbClr val="D2DBE6"/>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b="true">
                          <a:solidFill>
                            <a:srgbClr val="B84545"/>
                          </a:solidFill>
                          <a:latin typeface="Noto Sans Kr Bold"/>
                          <a:ea typeface="Noto Sans Kr Bold"/>
                          <a:cs typeface="Noto Sans Kr Bold"/>
                          <a:sym typeface="Noto Sans Kr Bold"/>
                        </a:rPr>
                        <a:t>5/6</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release 오판 기록 보존</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r>
              <a:tr h="944563">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LangSmith 재조회</a:t>
                      </a:r>
                      <a:endParaRPr lang="en-US" sz="1100"/>
                    </a:p>
                  </a:txBody>
                  <a:tcPr marL="0" marR="0" marT="0" marB="0" anchor="ctr">
                    <a:lnL cmpd="sng" algn="ctr" cap="flat" w="9525">
                      <a:solidFill>
                        <a:srgbClr val="D2DBE6"/>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실행 6건 · 점수 30개</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이전 가설 조사 평가</a:t>
                      </a:r>
                      <a:endParaRPr lang="en-US" sz="1100"/>
                    </a:p>
                  </a:txBody>
                  <a:tcPr marL="0" marR="0" marT="0" marB="0" anchor="ctr">
                    <a:lnL cmpd="sng" algn="ctr" cap="flat" w="4762">
                      <a:solidFill>
                        <a:srgbClr val="000000"/>
                      </a:solidFill>
                      <a:prstDash val="solid"/>
                      <a:round/>
                      <a:headEnd type="none" w="med" len="med"/>
                      <a:tailEnd type="none" w="med" len="med"/>
                    </a:lnL>
                    <a:lnR cmpd="sng" algn="ctr" cap="flat" w="9525">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D2DBE6"/>
                      </a:solidFill>
                      <a:prstDash val="solid"/>
                      <a:round/>
                      <a:headEnd type="none" w="med" len="med"/>
                      <a:tailEnd type="none" w="med" len="med"/>
                    </a:lnB>
                    <a:solidFill>
                      <a:srgbClr val="F7F8FA"/>
                    </a:solidFill>
                  </a:tcPr>
                </a:tc>
              </a:tr>
            </a:tbl>
          </a:graphicData>
        </a:graphic>
      </p:graphicFrame>
      <p:sp>
        <p:nvSpPr>
          <p:cNvPr name="TextBox 8" id="8"/>
          <p:cNvSpPr txBox="true"/>
          <p:nvPr/>
        </p:nvSpPr>
        <p:spPr>
          <a:xfrm rot="0">
            <a:off x="914400" y="8858250"/>
            <a:ext cx="8948764" cy="409548"/>
          </a:xfrm>
          <a:prstGeom prst="rect">
            <a:avLst/>
          </a:prstGeom>
        </p:spPr>
        <p:txBody>
          <a:bodyPr anchor="t" rtlCol="false" tIns="0" lIns="0" bIns="0" rIns="0">
            <a:spAutoFit/>
          </a:bodyPr>
          <a:lstStyle/>
          <a:p>
            <a:pPr algn="l">
              <a:lnSpc>
                <a:spcPts val="3240"/>
              </a:lnSpc>
            </a:pPr>
            <a:r>
              <a:rPr lang="en-US" sz="2700">
                <a:solidFill>
                  <a:srgbClr val="526176"/>
                </a:solidFill>
                <a:latin typeface="Noto Sans Kr"/>
                <a:ea typeface="Noto Sans Kr"/>
                <a:cs typeface="Noto Sans Kr"/>
                <a:sym typeface="Noto Sans Kr"/>
              </a:rPr>
              <a:t>Ollama   계획·작성 qwen3.5:2b   /   별도 Judge qwen3:8b</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28638"/>
            <a:ext cx="15716250" cy="342846"/>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Kr Bold"/>
                <a:ea typeface="Noto Sans Kr Bold"/>
                <a:cs typeface="Noto Sans Kr Bold"/>
                <a:sym typeface="Noto Sans Kr Bold"/>
              </a:rPr>
              <a:t>LESSONS</a:t>
            </a:r>
          </a:p>
        </p:txBody>
      </p:sp>
      <p:sp>
        <p:nvSpPr>
          <p:cNvPr name="TextBox 3" id="3"/>
          <p:cNvSpPr txBox="true"/>
          <p:nvPr/>
        </p:nvSpPr>
        <p:spPr>
          <a:xfrm rot="0">
            <a:off x="914400" y="1328738"/>
            <a:ext cx="16359188" cy="866721"/>
          </a:xfrm>
          <a:prstGeom prst="rect">
            <a:avLst/>
          </a:prstGeom>
        </p:spPr>
        <p:txBody>
          <a:bodyPr anchor="t" rtlCol="false" tIns="0" lIns="0" bIns="0" rIns="0">
            <a:spAutoFit/>
          </a:bodyPr>
          <a:lstStyle/>
          <a:p>
            <a:pPr algn="l">
              <a:lnSpc>
                <a:spcPts val="6884"/>
              </a:lnSpc>
            </a:pPr>
            <a:r>
              <a:rPr lang="en-US" sz="5737" b="true">
                <a:solidFill>
                  <a:srgbClr val="142338"/>
                </a:solidFill>
                <a:latin typeface="Noto Sans Kr Bold"/>
                <a:ea typeface="Noto Sans Kr Bold"/>
                <a:cs typeface="Noto Sans Kr Bold"/>
                <a:sym typeface="Noto Sans Kr Bold"/>
              </a:rPr>
              <a:t>판단이 달라진 이유를 기록</a:t>
            </a:r>
          </a:p>
        </p:txBody>
      </p:sp>
      <p:sp>
        <p:nvSpPr>
          <p:cNvPr name="AutoShape 4" id="4"/>
          <p:cNvSpPr/>
          <p:nvPr/>
        </p:nvSpPr>
        <p:spPr>
          <a:xfrm rot="4500">
            <a:off x="903675" y="9424988"/>
            <a:ext cx="16480650" cy="0"/>
          </a:xfrm>
          <a:prstGeom prst="line">
            <a:avLst/>
          </a:prstGeom>
          <a:ln cap="rnd" w="9525">
            <a:solidFill>
              <a:srgbClr val="D2DBE6"/>
            </a:solidFill>
            <a:prstDash val="solid"/>
            <a:headEnd type="none" len="sm" w="sm"/>
            <a:tailEnd type="none" len="sm" w="sm"/>
          </a:ln>
        </p:spPr>
      </p:sp>
      <p:sp>
        <p:nvSpPr>
          <p:cNvPr name="TextBox 5" id="5"/>
          <p:cNvSpPr txBox="true"/>
          <p:nvPr/>
        </p:nvSpPr>
        <p:spPr>
          <a:xfrm rot="0">
            <a:off x="914400" y="9658350"/>
            <a:ext cx="15216188" cy="342846"/>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SKALA 광주 2반 · G066 · 정준용</a:t>
            </a:r>
          </a:p>
        </p:txBody>
      </p:sp>
      <p:sp>
        <p:nvSpPr>
          <p:cNvPr name="TextBox 6" id="6"/>
          <p:cNvSpPr txBox="true"/>
          <p:nvPr/>
        </p:nvSpPr>
        <p:spPr>
          <a:xfrm rot="0">
            <a:off x="16587788" y="9629775"/>
            <a:ext cx="785812" cy="390471"/>
          </a:xfrm>
          <a:prstGeom prst="rect">
            <a:avLst/>
          </a:prstGeom>
        </p:spPr>
        <p:txBody>
          <a:bodyPr anchor="t" rtlCol="false" tIns="0" lIns="0" bIns="0" rIns="0">
            <a:spAutoFit/>
          </a:bodyPr>
          <a:lstStyle/>
          <a:p>
            <a:pPr algn="l">
              <a:lnSpc>
                <a:spcPts val="3104"/>
              </a:lnSpc>
            </a:pPr>
            <a:r>
              <a:rPr lang="en-US" sz="2587" b="true">
                <a:solidFill>
                  <a:srgbClr val="2864DC"/>
                </a:solidFill>
                <a:latin typeface="Noto Sans Kr Bold"/>
                <a:ea typeface="Noto Sans Kr Bold"/>
                <a:cs typeface="Noto Sans Kr Bold"/>
                <a:sym typeface="Noto Sans Kr Bold"/>
              </a:rPr>
              <a:t>08</a:t>
            </a:r>
          </a:p>
        </p:txBody>
      </p:sp>
      <p:sp>
        <p:nvSpPr>
          <p:cNvPr name="TextBox 7" id="7"/>
          <p:cNvSpPr txBox="true"/>
          <p:nvPr/>
        </p:nvSpPr>
        <p:spPr>
          <a:xfrm rot="0">
            <a:off x="914400" y="2571750"/>
            <a:ext cx="16459200" cy="1638192"/>
          </a:xfrm>
          <a:prstGeom prst="rect">
            <a:avLst/>
          </a:prstGeom>
        </p:spPr>
        <p:txBody>
          <a:bodyPr anchor="t" rtlCol="false" tIns="0" lIns="0" bIns="0" rIns="0">
            <a:spAutoFit/>
          </a:bodyPr>
          <a:lstStyle/>
          <a:p>
            <a:pPr algn="l">
              <a:lnSpc>
                <a:spcPts val="6480"/>
              </a:lnSpc>
            </a:pPr>
            <a:r>
              <a:rPr lang="en-US" sz="5400" b="true">
                <a:solidFill>
                  <a:srgbClr val="2864DC"/>
                </a:solidFill>
                <a:latin typeface="Noto Sans Kr Bold"/>
                <a:ea typeface="Noto Sans Kr Bold"/>
                <a:cs typeface="Noto Sans Kr Bold"/>
                <a:sym typeface="Noto Sans Kr Bold"/>
              </a:rPr>
              <a:t>판단 조건과 근거가</a:t>
            </a:r>
          </a:p>
          <a:p>
            <a:pPr algn="l">
              <a:lnSpc>
                <a:spcPts val="6480"/>
              </a:lnSpc>
            </a:pPr>
            <a:r>
              <a:rPr lang="en-US" sz="5400" b="true">
                <a:solidFill>
                  <a:srgbClr val="2864DC"/>
                </a:solidFill>
                <a:latin typeface="Noto Sans Kr Bold"/>
                <a:ea typeface="Noto Sans Kr Bold"/>
                <a:cs typeface="Noto Sans Kr Bold"/>
                <a:sym typeface="Noto Sans Kr Bold"/>
              </a:rPr>
              <a:t>설명의 변화를 검증하게 합니다</a:t>
            </a:r>
          </a:p>
        </p:txBody>
      </p:sp>
      <p:sp>
        <p:nvSpPr>
          <p:cNvPr name="TextBox 8" id="8"/>
          <p:cNvSpPr txBox="true"/>
          <p:nvPr/>
        </p:nvSpPr>
        <p:spPr>
          <a:xfrm rot="0">
            <a:off x="914400" y="5253037"/>
            <a:ext cx="7143750" cy="571446"/>
          </a:xfrm>
          <a:prstGeom prst="rect">
            <a:avLst/>
          </a:prstGeom>
        </p:spPr>
        <p:txBody>
          <a:bodyPr anchor="t" rtlCol="false" tIns="0" lIns="0" bIns="0" rIns="0">
            <a:spAutoFit/>
          </a:bodyPr>
          <a:lstStyle/>
          <a:p>
            <a:pPr algn="l">
              <a:lnSpc>
                <a:spcPts val="4590"/>
              </a:lnSpc>
            </a:pPr>
            <a:r>
              <a:rPr lang="en-US" sz="3825" b="true">
                <a:solidFill>
                  <a:srgbClr val="142338"/>
                </a:solidFill>
                <a:latin typeface="Noto Sans Kr Bold"/>
                <a:ea typeface="Noto Sans Kr Bold"/>
                <a:cs typeface="Noto Sans Kr Bold"/>
                <a:sym typeface="Noto Sans Kr Bold"/>
              </a:rPr>
              <a:t>남은 한계</a:t>
            </a:r>
          </a:p>
        </p:txBody>
      </p:sp>
      <p:sp>
        <p:nvSpPr>
          <p:cNvPr name="TextBox 9" id="9"/>
          <p:cNvSpPr txBox="true"/>
          <p:nvPr/>
        </p:nvSpPr>
        <p:spPr>
          <a:xfrm rot="0">
            <a:off x="9501188" y="5253037"/>
            <a:ext cx="7858125" cy="571446"/>
          </a:xfrm>
          <a:prstGeom prst="rect">
            <a:avLst/>
          </a:prstGeom>
        </p:spPr>
        <p:txBody>
          <a:bodyPr anchor="t" rtlCol="false" tIns="0" lIns="0" bIns="0" rIns="0">
            <a:spAutoFit/>
          </a:bodyPr>
          <a:lstStyle/>
          <a:p>
            <a:pPr algn="l">
              <a:lnSpc>
                <a:spcPts val="4590"/>
              </a:lnSpc>
            </a:pPr>
            <a:r>
              <a:rPr lang="en-US" sz="3825" b="true">
                <a:solidFill>
                  <a:srgbClr val="142338"/>
                </a:solidFill>
                <a:latin typeface="Noto Sans Kr Bold"/>
                <a:ea typeface="Noto Sans Kr Bold"/>
                <a:cs typeface="Noto Sans Kr Bold"/>
                <a:sym typeface="Noto Sans Kr Bold"/>
              </a:rPr>
              <a:t>다음 개선</a:t>
            </a:r>
          </a:p>
        </p:txBody>
      </p:sp>
      <p:sp>
        <p:nvSpPr>
          <p:cNvPr name="AutoShape 10" id="10"/>
          <p:cNvSpPr/>
          <p:nvPr/>
        </p:nvSpPr>
        <p:spPr>
          <a:xfrm rot="10260">
            <a:off x="903665" y="6153150"/>
            <a:ext cx="7165210" cy="0"/>
          </a:xfrm>
          <a:prstGeom prst="line">
            <a:avLst/>
          </a:prstGeom>
          <a:ln cap="rnd" w="9525">
            <a:solidFill>
              <a:srgbClr val="D2DBE6"/>
            </a:solidFill>
            <a:prstDash val="solid"/>
            <a:headEnd type="none" len="sm" w="sm"/>
            <a:tailEnd type="none" len="sm" w="sm"/>
          </a:ln>
        </p:spPr>
      </p:sp>
      <p:sp>
        <p:nvSpPr>
          <p:cNvPr name="AutoShape 11" id="11"/>
          <p:cNvSpPr/>
          <p:nvPr/>
        </p:nvSpPr>
        <p:spPr>
          <a:xfrm rot="9360">
            <a:off x="9490453" y="6153150"/>
            <a:ext cx="7893872" cy="0"/>
          </a:xfrm>
          <a:prstGeom prst="line">
            <a:avLst/>
          </a:prstGeom>
          <a:ln cap="rnd" w="9525">
            <a:solidFill>
              <a:srgbClr val="D2DBE6"/>
            </a:solidFill>
            <a:prstDash val="solid"/>
            <a:headEnd type="none" len="sm" w="sm"/>
            <a:tailEnd type="none" len="sm" w="sm"/>
          </a:ln>
        </p:spPr>
      </p:sp>
      <p:sp>
        <p:nvSpPr>
          <p:cNvPr name="TextBox 12" id="12"/>
          <p:cNvSpPr txBox="true"/>
          <p:nvPr/>
        </p:nvSpPr>
        <p:spPr>
          <a:xfrm rot="0">
            <a:off x="914400" y="6624637"/>
            <a:ext cx="7515225" cy="1562100"/>
          </a:xfrm>
          <a:prstGeom prst="rect">
            <a:avLst/>
          </a:prstGeom>
        </p:spPr>
        <p:txBody>
          <a:bodyPr anchor="t" rtlCol="false" tIns="0" lIns="0" bIns="0" rIns="0">
            <a:spAutoFit/>
          </a:bodyPr>
          <a:lstStyle/>
          <a:p>
            <a:pPr algn="l">
              <a:lnSpc>
                <a:spcPts val="4185"/>
              </a:lnSpc>
            </a:pPr>
            <a:r>
              <a:rPr lang="en-US" sz="3487">
                <a:solidFill>
                  <a:srgbClr val="526176"/>
                </a:solidFill>
                <a:latin typeface="Noto Sans Kr"/>
                <a:ea typeface="Noto Sans Kr"/>
                <a:cs typeface="Noto Sans Kr"/>
                <a:sym typeface="Noto Sans Kr"/>
              </a:rPr>
              <a:t>입력 규칙의 오탐 · 미탐</a:t>
            </a:r>
          </a:p>
          <a:p>
            <a:pPr algn="l">
              <a:lnSpc>
                <a:spcPts val="4185"/>
              </a:lnSpc>
            </a:pPr>
            <a:r>
              <a:rPr lang="en-US" sz="3487">
                <a:solidFill>
                  <a:srgbClr val="526176"/>
                </a:solidFill>
                <a:latin typeface="Noto Sans Kr"/>
                <a:ea typeface="Noto Sans Kr"/>
                <a:cs typeface="Noto Sans Kr"/>
                <a:sym typeface="Noto Sans Kr"/>
              </a:rPr>
              <a:t>CPU 세 가설 · 합성 관측</a:t>
            </a:r>
          </a:p>
          <a:p>
            <a:pPr algn="l">
              <a:lnSpc>
                <a:spcPts val="4185"/>
              </a:lnSpc>
            </a:pPr>
            <a:r>
              <a:rPr lang="en-US" sz="3487">
                <a:solidFill>
                  <a:srgbClr val="526176"/>
                </a:solidFill>
                <a:latin typeface="Noto Sans Kr"/>
                <a:ea typeface="Noto Sans Kr"/>
                <a:cs typeface="Noto Sans Kr"/>
                <a:sym typeface="Noto Sans Kr"/>
              </a:rPr>
              <a:t>Judge의 평가 오류</a:t>
            </a:r>
          </a:p>
        </p:txBody>
      </p:sp>
      <p:sp>
        <p:nvSpPr>
          <p:cNvPr name="TextBox 13" id="13"/>
          <p:cNvSpPr txBox="true"/>
          <p:nvPr/>
        </p:nvSpPr>
        <p:spPr>
          <a:xfrm rot="0">
            <a:off x="9501188" y="6624637"/>
            <a:ext cx="7872412" cy="1562100"/>
          </a:xfrm>
          <a:prstGeom prst="rect">
            <a:avLst/>
          </a:prstGeom>
        </p:spPr>
        <p:txBody>
          <a:bodyPr anchor="t" rtlCol="false" tIns="0" lIns="0" bIns="0" rIns="0">
            <a:spAutoFit/>
          </a:bodyPr>
          <a:lstStyle/>
          <a:p>
            <a:pPr algn="l">
              <a:lnSpc>
                <a:spcPts val="4185"/>
              </a:lnSpc>
            </a:pPr>
            <a:r>
              <a:rPr lang="en-US" sz="3487">
                <a:solidFill>
                  <a:srgbClr val="526176"/>
                </a:solidFill>
                <a:latin typeface="Noto Sans Kr"/>
                <a:ea typeface="Noto Sans Kr"/>
                <a:cs typeface="Noto Sans Kr"/>
                <a:sym typeface="Noto Sans Kr"/>
              </a:rPr>
              <a:t>실제 모니터링 연결</a:t>
            </a:r>
          </a:p>
          <a:p>
            <a:pPr algn="l">
              <a:lnSpc>
                <a:spcPts val="4185"/>
              </a:lnSpc>
            </a:pPr>
            <a:r>
              <a:rPr lang="en-US" sz="3487">
                <a:solidFill>
                  <a:srgbClr val="526176"/>
                </a:solidFill>
                <a:latin typeface="Noto Sans Kr"/>
                <a:ea typeface="Noto Sans Kr"/>
                <a:cs typeface="Noto Sans Kr"/>
                <a:sym typeface="Noto Sans Kr"/>
              </a:rPr>
              <a:t>사람 · 다른 계열 Judge 비교</a:t>
            </a:r>
          </a:p>
          <a:p>
            <a:pPr algn="l">
              <a:lnSpc>
                <a:spcPts val="4185"/>
              </a:lnSpc>
            </a:pPr>
            <a:r>
              <a:rPr lang="en-US" sz="3487">
                <a:solidFill>
                  <a:srgbClr val="526176"/>
                </a:solidFill>
                <a:latin typeface="Noto Sans Kr"/>
                <a:ea typeface="Noto Sans Kr"/>
                <a:cs typeface="Noto Sans Kr"/>
                <a:sym typeface="Noto Sans Kr"/>
              </a:rPr>
              <a:t>동일 조건 비용 계측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DAHYsfUQRzk</dc:identifier>
  <dcterms:modified xsi:type="dcterms:W3CDTF">2011-08-01T06:04:30Z</dcterms:modified>
  <cp:revision>1</cp:revision>
  <dc:title>가설 기반 운영 진단 에이전트_5분발표_정준용</dc:title>
</cp:coreProperties>
</file>