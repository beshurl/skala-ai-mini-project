
<file path=[Content_Types].xml><?xml version="1.0" encoding="utf-8"?>
<Types xmlns="http://schemas.openxmlformats.org/package/2006/content-types">
  <Default ContentType="application/x-fontdata" Extension="fntdata"/>
  <Default ContentType="image/jpeg" Extension="jpe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4"/>
  </p:notes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Noto Sans Bold" charset="1" panose="020B0802040504020204"/>
      <p:regular r:id="rId17"/>
    </p:embeddedFont>
    <p:embeddedFont>
      <p:font typeface="Noto Sans Kr" charset="1" panose="020B0200000000000000"/>
      <p:regular r:id="rId18"/>
    </p:embeddedFont>
    <p:embeddedFont>
      <p:font typeface="Noto Sans Kr Bold" charset="1" panose="020B02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notesMasters/notesMaster1.xml" Type="http://schemas.openxmlformats.org/officeDocument/2006/relationships/notesMaster"/><Relationship Id="rId15" Target="theme/theme2.xml" Type="http://schemas.openxmlformats.org/officeDocument/2006/relationships/theme"/><Relationship Id="rId16" Target="notesSlides/notesSlide1.xml" Type="http://schemas.openxmlformats.org/officeDocument/2006/relationships/notesSlide"/><Relationship Id="rId17" Target="fonts/font17.fntdata" Type="http://schemas.openxmlformats.org/officeDocument/2006/relationships/font"/><Relationship Id="rId18" Target="fonts/font18.fntdata" Type="http://schemas.openxmlformats.org/officeDocument/2006/relationships/font"/><Relationship Id="rId19" Target="notesSlides/notesSlide2.xml" Type="http://schemas.openxmlformats.org/officeDocument/2006/relationships/notesSlide"/><Relationship Id="rId2" Target="presProps.xml" Type="http://schemas.openxmlformats.org/officeDocument/2006/relationships/presProps"/><Relationship Id="rId20" Target="notesSlides/notesSlide3.xml" Type="http://schemas.openxmlformats.org/officeDocument/2006/relationships/notesSlide"/><Relationship Id="rId21" Target="fonts/font21.fntdata" Type="http://schemas.openxmlformats.org/officeDocument/2006/relationships/font"/><Relationship Id="rId22" Target="notesSlides/notesSlide4.xml" Type="http://schemas.openxmlformats.org/officeDocument/2006/relationships/notesSlide"/><Relationship Id="rId23" Target="notesSlides/notesSlide5.xml" Type="http://schemas.openxmlformats.org/officeDocument/2006/relationships/notesSlide"/><Relationship Id="rId24" Target="notesSlides/notesSlide6.xml" Type="http://schemas.openxmlformats.org/officeDocument/2006/relationships/notesSlide"/><Relationship Id="rId25" Target="notesSlides/notesSlide7.xml" Type="http://schemas.openxmlformats.org/officeDocument/2006/relationships/notesSlide"/><Relationship Id="rId26" Target="notesSlides/notesSlide8.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가설 기반 운영 진단 에이전트</a:t>
            </a:r>
          </a:p>
          <a:p>
            <a:r>
              <a:rPr lang="en-US"/>
              <a:t>SKALA 광주 2반 · G066 · 정준용</a:t>
            </a:r>
          </a:p>
          <a:p>
            <a:r>
              <a:rPr lang="en-US"/>
              <a:t>발표 시간: 20초 / 0:00~0:20</a:t>
            </a:r>
          </a:p>
          <a:p>
            <a:r>
              <a:rPr lang="en-US"/>
              <a:t/>
            </a:r>
          </a:p>
          <a:p>
            <a:r>
              <a:rPr lang="en-US"/>
              <a:t>발표 멘트</a:t>
            </a:r>
          </a:p>
          <a:p>
            <a:r>
              <a:rPr lang="en-US"/>
              <a:t>안녕하세요. SKALA 광주 2반 G066 정준용입니다. 시스템의 장애 증상을 입력하면 지표와 로그, 운영 매뉴얼을 조사하는 에이전트를 개선했습니다. 기존의 문제와 개선 이유, 적용 기술, 실제 검증 결과, 그리고 한계와 배운 점 순서로 소개하겠습니다.</a:t>
            </a:r>
          </a:p>
          <a:p>
            <a:r>
              <a:rPr lang="en-US"/>
              <a:t/>
            </a:r>
          </a:p>
          <a:p>
            <a:r>
              <a:rPr lang="en-US"/>
              <a:t>화면 진행</a:t>
            </a:r>
          </a:p>
          <a:p>
            <a:r>
              <a:rPr lang="en-US"/>
              <a:t>프로젝트명과 소속을 소개한다. 구현 코드나 편집기 화면으로 전환하지 않는다.</a:t>
            </a:r>
          </a:p>
          <a:p>
            <a:r>
              <a:rPr lang="en-US"/>
              <a:t/>
            </a:r>
          </a:p>
          <a:p>
            <a:r>
              <a:rPr lang="en-US"/>
              <a:t>근거 자료</a:t>
            </a:r>
          </a:p>
          <a:p>
            <a:r>
              <a:rPr lang="en-US"/>
              <a:t>https://github.com/beshurl/skala-ai-mini-project/blob/main/README.md</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기존 문제와 개선 방향</a:t>
            </a:r>
          </a:p>
          <a:p>
            <a:r>
              <a:rPr lang="en-US"/>
              <a:t>SKALA 광주 2반 · G066 · 정준용</a:t>
            </a:r>
          </a:p>
          <a:p>
            <a:r>
              <a:rPr lang="en-US"/>
              <a:t>발표 시간: 40초 / 0:20~1:00</a:t>
            </a:r>
          </a:p>
          <a:p>
            <a:r>
              <a:rPr lang="en-US"/>
              <a:t/>
            </a:r>
          </a:p>
          <a:p>
            <a:r>
              <a:rPr lang="en-US"/>
              <a:t>발표 멘트</a:t>
            </a:r>
          </a:p>
          <a:p>
            <a:r>
              <a:rPr lang="en-US"/>
              <a:t>해결 과제는 네 가지였습니다. 먼저 업무와 무관한 입력까지 모델을 호출해 토큰과 시간이 들었습니다. 그래서 모델 실행 전에 입력을 검사했습니다. 다음으로 CPU 상승과 배치 경고만으로 원인을 추정하면 잘못된 조치를 권할 수 있어, 경쟁 가설과 추가 관측을 도입했습니다. 키워드 검색과 일부 조회 실패에는 다중 문서 검색과 실패 격리를 적용했습니다. 마지막으로 잘못된 수치와 반복 생성을 막기 위해 사실 검증과 호출 횟수 제한을 함께 설계했습니다.</a:t>
            </a:r>
          </a:p>
          <a:p>
            <a:r>
              <a:rPr lang="en-US"/>
              <a:t/>
            </a:r>
          </a:p>
          <a:p>
            <a:r>
              <a:rPr lang="en-US"/>
              <a:t>화면 진행</a:t>
            </a:r>
          </a:p>
          <a:p>
            <a:r>
              <a:rPr lang="en-US"/>
              <a:t>표의 각 행에서 기존 문제와 개선 이유를 연결한다. 개선 기능만 나열하지 않고 왜 필요한지 설명한다.</a:t>
            </a:r>
          </a:p>
          <a:p>
            <a:r>
              <a:rPr lang="en-US"/>
              <a:t/>
            </a:r>
          </a:p>
          <a:p>
            <a:r>
              <a:rPr lang="en-US"/>
              <a:t>근거 자료</a:t>
            </a:r>
          </a:p>
          <a:p>
            <a:r>
              <a:rPr lang="en-US"/>
              <a:t>https://github.com/beshurl/skala-ai-mini-project/blob/main/README.md</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핵심 기능과 가설 조사 차별점</a:t>
            </a:r>
          </a:p>
          <a:p>
            <a:r>
              <a:rPr lang="en-US"/>
              <a:t>SKALA 광주 2반 · G066 · 정준용</a:t>
            </a:r>
          </a:p>
          <a:p>
            <a:r>
              <a:rPr lang="en-US"/>
              <a:t>발표 시간: 40초 / 1:00~1:40</a:t>
            </a:r>
          </a:p>
          <a:p>
            <a:r>
              <a:rPr lang="en-US"/>
              <a:t/>
            </a:r>
          </a:p>
          <a:p>
            <a:r>
              <a:rPr lang="en-US"/>
              <a:t>발표 멘트</a:t>
            </a:r>
          </a:p>
          <a:p>
            <a:r>
              <a:rPr lang="en-US"/>
              <a:t>가장 큰 차별점은 추가 조회 전에 지지와 반증 조건을 정한다는 점입니다. 실제 LLM이 아직 수행하지 않은 허용 질문을 고르고, 동일한 시간 구간의 관측을 조건과 대조합니다. 그 결과 단서 지지, 교차 지지, 반증, 상충, 판단 보류를 구분합니다. 전체 추가 조회는 최대 네 번입니다. 사용자 화면에서는 조사 이유와 조건, 판단이 달라진 과정을 볼 수 있습니다. 대상 확인과 후속 질문, 기록 복원, 배포 전후 수치 비교도 함께 제공합니다.</a:t>
            </a:r>
          </a:p>
          <a:p>
            <a:r>
              <a:rPr lang="en-US"/>
              <a:t/>
            </a:r>
          </a:p>
          <a:p>
            <a:r>
              <a:rPr lang="en-US"/>
              <a:t>화면 진행</a:t>
            </a:r>
          </a:p>
          <a:p>
            <a:r>
              <a:rPr lang="en-US"/>
              <a:t>상단의 조건 기록·질문 선택·관측·가설 갱신 순서를 짚는다. 하단에서 화면과 기록 기능을 짧게 소개한다.</a:t>
            </a:r>
          </a:p>
          <a:p>
            <a:r>
              <a:rPr lang="en-US"/>
              <a:t/>
            </a:r>
          </a:p>
          <a:p>
            <a:r>
              <a:rPr lang="en-US"/>
              <a:t>근거 자료</a:t>
            </a:r>
          </a:p>
          <a:p>
            <a:r>
              <a:rPr lang="en-US"/>
              <a:t>https://github.com/beshurl/skala-ai-mini-project/blob/main/README.md</a:t>
            </a:r>
          </a:p>
          <a:p>
            <a:r>
              <a:rPr lang="en-US"/>
              <a:t>https://github.com/beshurl/skala-ai-mini-project/blob/main/agent/investigation.py</a:t>
            </a:r>
          </a:p>
          <a:p>
            <a:r>
              <a:rPr lang="en-US"/>
              <a:t>https://github.com/beshurl/skala-ai-mini-project/blob/main/frontend/app.js</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전체 아키텍처와 처리 흐름</a:t>
            </a:r>
          </a:p>
          <a:p>
            <a:r>
              <a:rPr lang="en-US"/>
              <a:t>SKALA 광주 2반 · G066 · 정준용</a:t>
            </a:r>
          </a:p>
          <a:p>
            <a:r>
              <a:rPr lang="en-US"/>
              <a:t>발표 시간: 40초 / 1:40~2:20</a:t>
            </a:r>
          </a:p>
          <a:p>
            <a:r>
              <a:rPr lang="en-US"/>
              <a:t/>
            </a:r>
          </a:p>
          <a:p>
            <a:r>
              <a:rPr lang="en-US"/>
              <a:t>발표 멘트</a:t>
            </a:r>
          </a:p>
          <a:p>
            <a:r>
              <a:rPr lang="en-US"/>
              <a:t>전체 흐름은 입력 검사에서 시작합니다. 통과한 질문은 LangGraph Supervisor가 대상 확인과 전문 조회를 조정합니다. 지표와 로그는 병렬로 수집하고, 실제 관측을 포함한 질의로 런북을 검색합니다. CPU 추가 조사 대상이면 계획과 관측, 판정을 반복하고, 그 외 진단과 배포 점검은 공통 보고 흐름으로 합류합니다. 사실 검증을 통과한 결과를 화면과 SQLite에 남깁니다. 조회 실패는 항목별로 격리하고, 별도 평가 경로에서 Judge와 LangSmith를 연결합니다.</a:t>
            </a:r>
          </a:p>
          <a:p>
            <a:r>
              <a:rPr lang="en-US"/>
              <a:t/>
            </a:r>
          </a:p>
          <a:p>
            <a:r>
              <a:rPr lang="en-US"/>
              <a:t>화면 진행</a:t>
            </a:r>
          </a:p>
          <a:p>
            <a:r>
              <a:rPr lang="en-US"/>
              <a:t>흐름도를 왼쪽 위부터 오른쪽으로 읽고 아래쪽 조사·검증·결과 경로로 이어간다. 거절 분기와 별도 평가 경로를 구분한다.</a:t>
            </a:r>
          </a:p>
          <a:p>
            <a:r>
              <a:rPr lang="en-US"/>
              <a:t/>
            </a:r>
          </a:p>
          <a:p>
            <a:r>
              <a:rPr lang="en-US"/>
              <a:t>근거 자료</a:t>
            </a:r>
          </a:p>
          <a:p>
            <a:r>
              <a:rPr lang="en-US"/>
              <a:t>https://github.com/beshurl/skala-ai-mini-project/blob/main/README.md</a:t>
            </a:r>
          </a:p>
          <a:p>
            <a:r>
              <a:rPr lang="en-US"/>
              <a:t>https://github.com/beshurl/skala-ai-mini-project/blob/main/agent/graph.py</a:t>
            </a:r>
          </a:p>
          <a:p>
            <a:r>
              <a:rPr lang="en-US"/>
              <a:t>https://github.com/beshurl/skala-ai-mini-project/blob/main/agent/deps.py</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기술과 역할 분리</a:t>
            </a:r>
          </a:p>
          <a:p>
            <a:r>
              <a:rPr lang="en-US"/>
              <a:t>SKALA 광주 2반 · G066 · 정준용</a:t>
            </a:r>
          </a:p>
          <a:p>
            <a:r>
              <a:rPr lang="en-US"/>
              <a:t>발표 시간: 45초 / 2:20~3:05</a:t>
            </a:r>
          </a:p>
          <a:p>
            <a:r>
              <a:rPr lang="en-US"/>
              <a:t/>
            </a:r>
          </a:p>
          <a:p>
            <a:r>
              <a:rPr lang="en-US"/>
              <a:t>발표 멘트</a:t>
            </a:r>
          </a:p>
          <a:p>
            <a:r>
              <a:rPr lang="en-US"/>
              <a:t>기술은 각 역할에 맞춰 적용했습니다. Multi-Agent는 지표, 로그, 런북 전문 서브그래프로 나누고 Supervisor가 조정합니다. 모든 전문 조회가 개별 LLM을 사용하는 구조는 아닙니다. MCP는 조회 Tool, 런북 원문 Resource, 공통 절차 Prompt를 제공합니다. RAG는 매뉴얼 여섯 종을 임베딩해 SQLite에 저장하고 코사인 유사도로 최대 세 개를 검색합니다. 소규모 문서에 맞춘 자체 벡터 인덱스입니다. 외부 연결은 의존성 주입으로 분리하고, FastAPI와 SSE, Vue, SQLite로 진행 표시와 기록 복원을 구현했습니다.</a:t>
            </a:r>
          </a:p>
          <a:p>
            <a:r>
              <a:rPr lang="en-US"/>
              <a:t/>
            </a:r>
          </a:p>
          <a:p>
            <a:r>
              <a:rPr lang="en-US"/>
              <a:t>화면 진행</a:t>
            </a:r>
          </a:p>
          <a:p>
            <a:r>
              <a:rPr lang="en-US"/>
              <a:t>기술명보다 실제 적용 역할을 설명한다. 외부 Vector DB 제품이나 자율적인 전문 LLM 에이전트를 사용했다고 확대하지 않는다.</a:t>
            </a:r>
          </a:p>
          <a:p>
            <a:r>
              <a:rPr lang="en-US"/>
              <a:t/>
            </a:r>
          </a:p>
          <a:p>
            <a:r>
              <a:rPr lang="en-US"/>
              <a:t>근거 자료</a:t>
            </a:r>
          </a:p>
          <a:p>
            <a:r>
              <a:rPr lang="en-US"/>
              <a:t>https://github.com/beshurl/skala-ai-mini-project/blob/main/README.md</a:t>
            </a:r>
          </a:p>
          <a:p>
            <a:r>
              <a:rPr lang="en-US"/>
              <a:t>https://github.com/beshurl/skala-ai-mini-project/blob/main/agent/specialists.py</a:t>
            </a:r>
          </a:p>
          <a:p>
            <a:r>
              <a:rPr lang="en-US"/>
              <a:t>https://github.com/beshurl/skala-ai-mini-project/blob/main/mcp_server.py</a:t>
            </a:r>
          </a:p>
          <a:p>
            <a:r>
              <a:rPr lang="en-US"/>
              <a:t>https://github.com/beshurl/skala-ai-mini-project/blob/main/agent/retrieval.py</a:t>
            </a:r>
          </a:p>
          <a:p>
            <a:r>
              <a:rPr lang="en-US"/>
              <a:t>https://github.com/beshurl/skala-ai-mini-project/blob/main/agent/deps.py</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검증과 관측 가능성</a:t>
            </a:r>
          </a:p>
          <a:p>
            <a:r>
              <a:rPr lang="en-US"/>
              <a:t>SKALA 광주 2반 · G066 · 정준용</a:t>
            </a:r>
          </a:p>
          <a:p>
            <a:r>
              <a:rPr lang="en-US"/>
              <a:t>발표 시간: 35초 / 3:05~3:40</a:t>
            </a:r>
          </a:p>
          <a:p>
            <a:r>
              <a:rPr lang="en-US"/>
              <a:t/>
            </a:r>
          </a:p>
          <a:p>
            <a:r>
              <a:rPr lang="en-US"/>
              <a:t>발표 멘트</a:t>
            </a:r>
          </a:p>
          <a:p>
            <a:r>
              <a:rPr lang="en-US"/>
              <a:t>검증은 세 층으로 나눴습니다. 첫째, 자동 테스트와 관측 계약으로 입력, 분기, 수치 범위를 확인합니다. 둘째, 답변의 대상과 수치, 출처, 허용 조치를 검사하고 최대 세 번 작성한 뒤에도 실패하면 확인된 관측만 제공합니다. 셋째, 별도 Judge가 근거 충실성과 수치, 조치 조건, 요청 충족, 다음 행동을 평가합니다. LangSmith에는 실행과 토큰, 점수를 기록한 뒤 원격으로 다시 조회합니다. Judge도 틀릴 수 있어 원래 점수와 실패를 보존했습니다.</a:t>
            </a:r>
          </a:p>
          <a:p>
            <a:r>
              <a:rPr lang="en-US"/>
              <a:t/>
            </a:r>
          </a:p>
          <a:p>
            <a:r>
              <a:rPr lang="en-US"/>
              <a:t>화면 진행</a:t>
            </a:r>
          </a:p>
          <a:p>
            <a:r>
              <a:rPr lang="en-US"/>
              <a:t>자동 검사, 답변 검증, 별도 의미 평가의 역할을 차례로 설명한다. Judge는 매 대화의 최종 승인기가 아니라 별도 평가임을 밝힌다.</a:t>
            </a:r>
          </a:p>
          <a:p>
            <a:r>
              <a:rPr lang="en-US"/>
              <a:t/>
            </a:r>
          </a:p>
          <a:p>
            <a:r>
              <a:rPr lang="en-US"/>
              <a:t>근거 자료</a:t>
            </a:r>
          </a:p>
          <a:p>
            <a:r>
              <a:rPr lang="en-US"/>
              <a:t>https://github.com/beshurl/skala-ai-mini-project/blob/main/README.md</a:t>
            </a:r>
          </a:p>
          <a:p>
            <a:r>
              <a:rPr lang="en-US"/>
              <a:t>https://github.com/beshurl/skala-ai-mini-project/blob/main/agent/validation.py</a:t>
            </a:r>
          </a:p>
          <a:p>
            <a:r>
              <a:rPr lang="en-US"/>
              <a:t>https://github.com/beshurl/skala-ai-mini-project/blob/main/agent/judge.py</a:t>
            </a:r>
          </a:p>
          <a:p>
            <a:r>
              <a:rPr lang="en-US"/>
              <a:t>https://github.com/beshurl/skala-ai-mini-project/blob/main/agent/observability.py</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실행 화면과 실제 검증 결과</a:t>
            </a:r>
          </a:p>
          <a:p>
            <a:r>
              <a:rPr lang="en-US"/>
              <a:t>SKALA 광주 2반 · G066 · 정준용</a:t>
            </a:r>
          </a:p>
          <a:p>
            <a:r>
              <a:rPr lang="en-US"/>
              <a:t>발표 시간: 45초 / 3:40~4:25</a:t>
            </a:r>
          </a:p>
          <a:p>
            <a:r>
              <a:rPr lang="en-US"/>
              <a:t/>
            </a:r>
          </a:p>
          <a:p>
            <a:r>
              <a:rPr lang="en-US"/>
              <a:t>발표 멘트</a:t>
            </a:r>
          </a:p>
          <a:p>
            <a:r>
              <a:rPr lang="en-US"/>
              <a:t>왼쪽은 실제 모델로 실행해 저장한 화면입니다. CPU 91%와 배치 경고가 있어도, 배치의 CPU 기여가 5%라 배치 가설은 반증했습니다. 요청 처리 기여 88%와 요청량 3.2배는 요청량 가설을 교차 지지했습니다. 관측 자체는 교육용 합성 데이터입니다. 오른쪽은 10월 21일 검증 기록입니다. 입력 거절 다섯 건은 생성 0토큰과 LLM, MCP 호출 부재를 확인했습니다. 자동 테스트는 99개를 통과했습니다. 입력 검사 도입 전 가설 평가는 기능 6건을 통과했고 Judge 포함 종합은 5건 통과였습니다. 원격 실행 6건과 점수 30개도 재조회했습니다.</a:t>
            </a:r>
          </a:p>
          <a:p>
            <a:r>
              <a:rPr lang="en-US"/>
              <a:t/>
            </a:r>
          </a:p>
          <a:p>
            <a:r>
              <a:rPr lang="en-US"/>
              <a:t>화면 진행</a:t>
            </a:r>
          </a:p>
          <a:p>
            <a:r>
              <a:rPr lang="en-US"/>
              <a:t>저장 화면에서 배치 반증과 요청량 교차 지지를 보여준다. 표에서 입력 거절 검증과 그 도입 전 모델 평가를 구분한다. 실시간 전체 조사나 Judge는 재실행하지 않는다.</a:t>
            </a:r>
          </a:p>
          <a:p>
            <a:r>
              <a:rPr lang="en-US"/>
              <a:t/>
            </a:r>
          </a:p>
          <a:p>
            <a:r>
              <a:rPr lang="en-US"/>
              <a:t>근거 자료</a:t>
            </a:r>
          </a:p>
          <a:p>
            <a:r>
              <a:rPr lang="en-US"/>
              <a:t>https://github.com/beshurl/skala-ai-mini-project/blob/main/README.md</a:t>
            </a:r>
          </a:p>
          <a:p>
            <a:r>
              <a:rPr lang="en-US"/>
              <a:t>https://github.com/beshurl/skala-ai-mini-project/blob/main/artifacts/screenshots/investigation-traffic-desktop.png</a:t>
            </a:r>
          </a:p>
          <a:p>
            <a:r>
              <a:rPr lang="en-US"/>
              <a:t>https://github.com/beshurl/skala-ai-mini-project/blob/main/artifacts/screenshots/input-rejected-zero-tokens.png</a:t>
            </a:r>
          </a:p>
          <a:p>
            <a:r>
              <a:rPr lang="en-US"/>
              <a:t>https://github.com/beshurl/skala-ai-mini-project/blob/main/artifacts/input_validation_verification.json</a:t>
            </a:r>
          </a:p>
          <a:p>
            <a:r>
              <a:rPr lang="en-US"/>
              <a:t>https://github.com/beshurl/skala-ai-mini-project/blob/main/artifacts/investigation_evaluation.json</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한계와 다음 개선, 배운 점</a:t>
            </a:r>
          </a:p>
          <a:p>
            <a:r>
              <a:rPr lang="en-US"/>
              <a:t>SKALA 광주 2반 · G066 · 정준용</a:t>
            </a:r>
          </a:p>
          <a:p>
            <a:r>
              <a:rPr lang="en-US"/>
              <a:t>발표 시간: 35초 / 4:25~5:00</a:t>
            </a:r>
          </a:p>
          <a:p>
            <a:r>
              <a:rPr lang="en-US"/>
              <a:t/>
            </a:r>
          </a:p>
          <a:p>
            <a:r>
              <a:rPr lang="en-US"/>
              <a:t>발표 멘트</a:t>
            </a:r>
          </a:p>
          <a:p>
            <a:r>
              <a:rPr lang="en-US"/>
              <a:t>입력 규칙은 토큰을 쓰지 않지만 오탐과 미탐이 생길 수 있습니다. 추가 조사도 CPU 세 가설과 합성 관측에 한정되며, 두 근거의 지지가 인과관계 확정을 의미하지 않습니다. Judge 역시 평가 오류가 있었습니다. 다음에는 실제 모니터링과 다른 계열 Judge, 사람 평가를 연결하고 동일 조건의 비용을 측정하겠습니다. 이번 경험을 통해 자연스러운 설명보다 판단 조건과 근거를 남기는 일이 중요하다는 점을 배웠습니다. 결론을 보류할 때도 이유를 설명하는 서비스로 설계했습니다.</a:t>
            </a:r>
          </a:p>
          <a:p>
            <a:r>
              <a:rPr lang="en-US"/>
              <a:t/>
            </a:r>
          </a:p>
          <a:p>
            <a:r>
              <a:rPr lang="en-US"/>
              <a:t>화면 진행</a:t>
            </a:r>
          </a:p>
          <a:p>
            <a:r>
              <a:rPr lang="en-US"/>
              <a:t>한계와 그에 대응하는 향후 개선을 연결한다. 마지막 소감 한 문장을 읽고 5분 안에 종료한다.</a:t>
            </a:r>
          </a:p>
          <a:p>
            <a:r>
              <a:rPr lang="en-US"/>
              <a:t/>
            </a:r>
          </a:p>
          <a:p>
            <a:r>
              <a:rPr lang="en-US"/>
              <a:t>근거 자료</a:t>
            </a:r>
          </a:p>
          <a:p>
            <a:r>
              <a:rPr lang="en-US"/>
              <a:t>https://github.com/beshurl/skala-ai-mini-project/blob/main/README.md</a:t>
            </a:r>
          </a:p>
          <a:p>
            <a:r>
              <a:rPr lang="en-US"/>
              <a:t/>
            </a:r>
          </a:p>
          <a:p>
            <a:r>
              <a:rPr lang="en-US"/>
              <a:t>검증은 2026-10-21 보존 기록. 입력 검증과 도입 전 가설 조사 평가를 구분. 실제 모델은 Ollama qwen3.5:2b, 별도 Judge qwen3:8b. 관측은 합성 데이터이며 인과 확정 아님.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slide1.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1) 표지 및 소속 정보</a:t>
            </a:r>
          </a:p>
        </p:txBody>
      </p:sp>
      <p:sp>
        <p:nvSpPr>
          <p:cNvPr name="AutoShape 3" id="3"/>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4" id="4"/>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SKALA 프로젝트 개선 결과 / 5분 발표</a:t>
            </a:r>
          </a:p>
        </p:txBody>
      </p:sp>
      <p:sp>
        <p:nvSpPr>
          <p:cNvPr name="TextBox 5" id="5"/>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01</a:t>
            </a:r>
          </a:p>
        </p:txBody>
      </p:sp>
      <p:sp>
        <p:nvSpPr>
          <p:cNvPr name="TextBox 6" id="6"/>
          <p:cNvSpPr txBox="true"/>
          <p:nvPr/>
        </p:nvSpPr>
        <p:spPr>
          <a:xfrm rot="0">
            <a:off x="914400" y="1790700"/>
            <a:ext cx="16459200" cy="3143250"/>
          </a:xfrm>
          <a:prstGeom prst="rect">
            <a:avLst/>
          </a:prstGeom>
        </p:spPr>
        <p:txBody>
          <a:bodyPr anchor="t" rtlCol="false" tIns="0" lIns="0" bIns="0" rIns="0">
            <a:spAutoFit/>
          </a:bodyPr>
          <a:lstStyle/>
          <a:p>
            <a:pPr algn="l">
              <a:lnSpc>
                <a:spcPts val="10800"/>
              </a:lnSpc>
            </a:pPr>
            <a:r>
              <a:rPr lang="en-US" sz="9000" b="true">
                <a:solidFill>
                  <a:srgbClr val="142338"/>
                </a:solidFill>
                <a:latin typeface="Noto Sans Bold"/>
                <a:ea typeface="Noto Sans Bold"/>
                <a:cs typeface="Noto Sans Bold"/>
                <a:sym typeface="Noto Sans Bold"/>
              </a:rPr>
              <a:t>가설 기반</a:t>
            </a:r>
          </a:p>
          <a:p>
            <a:pPr algn="l">
              <a:lnSpc>
                <a:spcPts val="10800"/>
              </a:lnSpc>
            </a:pPr>
            <a:r>
              <a:rPr lang="en-US" sz="9000" b="true">
                <a:solidFill>
                  <a:srgbClr val="142338"/>
                </a:solidFill>
                <a:latin typeface="Noto Sans Bold"/>
                <a:ea typeface="Noto Sans Bold"/>
                <a:cs typeface="Noto Sans Bold"/>
                <a:sym typeface="Noto Sans Bold"/>
              </a:rPr>
              <a:t>운영 진단 에이전트</a:t>
            </a:r>
          </a:p>
        </p:txBody>
      </p:sp>
      <p:sp>
        <p:nvSpPr>
          <p:cNvPr name="TextBox 7" id="7"/>
          <p:cNvSpPr txBox="true"/>
          <p:nvPr/>
        </p:nvSpPr>
        <p:spPr>
          <a:xfrm rot="0">
            <a:off x="971550" y="5429250"/>
            <a:ext cx="16344900" cy="819150"/>
          </a:xfrm>
          <a:prstGeom prst="rect">
            <a:avLst/>
          </a:prstGeom>
        </p:spPr>
        <p:txBody>
          <a:bodyPr anchor="t" rtlCol="false" tIns="0" lIns="0" bIns="0" rIns="0">
            <a:spAutoFit/>
          </a:bodyPr>
          <a:lstStyle/>
          <a:p>
            <a:pPr algn="l">
              <a:lnSpc>
                <a:spcPts val="4860"/>
              </a:lnSpc>
            </a:pPr>
            <a:r>
              <a:rPr lang="en-US" sz="4050" b="true">
                <a:solidFill>
                  <a:srgbClr val="2864DC"/>
                </a:solidFill>
                <a:latin typeface="Noto Sans Bold"/>
                <a:ea typeface="Noto Sans Bold"/>
                <a:cs typeface="Noto Sans Bold"/>
                <a:sym typeface="Noto Sans Bold"/>
              </a:rPr>
              <a:t>불필요한 호출을 줄이고, 관측으로 가설을 비교합니다</a:t>
            </a:r>
          </a:p>
        </p:txBody>
      </p:sp>
      <p:sp>
        <p:nvSpPr>
          <p:cNvPr name="TextBox 8" id="8"/>
          <p:cNvSpPr txBox="true"/>
          <p:nvPr/>
        </p:nvSpPr>
        <p:spPr>
          <a:xfrm rot="0">
            <a:off x="971550" y="7096125"/>
            <a:ext cx="16402050" cy="723900"/>
          </a:xfrm>
          <a:prstGeom prst="rect">
            <a:avLst/>
          </a:prstGeom>
        </p:spPr>
        <p:txBody>
          <a:bodyPr anchor="t" rtlCol="false" tIns="0" lIns="0" bIns="0" rIns="0">
            <a:spAutoFit/>
          </a:bodyPr>
          <a:lstStyle/>
          <a:p>
            <a:pPr algn="l">
              <a:lnSpc>
                <a:spcPts val="4140"/>
              </a:lnSpc>
            </a:pPr>
            <a:r>
              <a:rPr lang="en-US" sz="3450">
                <a:solidFill>
                  <a:srgbClr val="142338"/>
                </a:solidFill>
                <a:latin typeface="Noto Sans Kr"/>
                <a:ea typeface="Noto Sans Kr"/>
                <a:cs typeface="Noto Sans Kr"/>
                <a:sym typeface="Noto Sans Kr"/>
              </a:rPr>
              <a:t>SKALA 광주 2반 · G066 · 정준용</a:t>
            </a:r>
          </a:p>
        </p:txBody>
      </p:sp>
      <p:sp>
        <p:nvSpPr>
          <p:cNvPr name="TextBox 9" id="9"/>
          <p:cNvSpPr txBox="true"/>
          <p:nvPr/>
        </p:nvSpPr>
        <p:spPr>
          <a:xfrm rot="0">
            <a:off x="971550" y="8496300"/>
            <a:ext cx="16402050" cy="571500"/>
          </a:xfrm>
          <a:prstGeom prst="rect">
            <a:avLst/>
          </a:prstGeom>
        </p:spPr>
        <p:txBody>
          <a:bodyPr anchor="t" rtlCol="false" tIns="0" lIns="0" bIns="0" rIns="0">
            <a:spAutoFit/>
          </a:bodyPr>
          <a:lstStyle/>
          <a:p>
            <a:pPr algn="l">
              <a:lnSpc>
                <a:spcPts val="3329"/>
              </a:lnSpc>
            </a:pPr>
            <a:r>
              <a:rPr lang="en-US" sz="2775">
                <a:solidFill>
                  <a:srgbClr val="526176"/>
                </a:solidFill>
                <a:latin typeface="Noto Sans Kr"/>
                <a:ea typeface="Noto Sans Kr"/>
                <a:cs typeface="Noto Sans Kr"/>
                <a:sym typeface="Noto Sans Kr"/>
              </a:rPr>
              <a:t>문제와 개선 이유     적용 기술     구현 결과     교훈</a:t>
            </a: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2) 문제 개선 및 신규 구현 사항</a:t>
            </a:r>
          </a:p>
        </p:txBody>
      </p:sp>
      <p:sp>
        <p:nvSpPr>
          <p:cNvPr name="TextBox 3" id="3"/>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기존 문제와 개선 방향</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토큰 낭비와 오진 위험을 줄이기 위한 개선</a:t>
            </a:r>
          </a:p>
        </p:txBody>
      </p:sp>
      <p:sp>
        <p:nvSpPr>
          <p:cNvPr name="TextBox 6" id="6"/>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02</a:t>
            </a:r>
          </a:p>
        </p:txBody>
      </p:sp>
      <p:graphicFrame>
        <p:nvGraphicFramePr>
          <p:cNvPr name="Table 7" id="7"/>
          <p:cNvGraphicFramePr>
            <a:graphicFrameLocks noGrp="true"/>
          </p:cNvGraphicFramePr>
          <p:nvPr/>
        </p:nvGraphicFramePr>
        <p:xfrm>
          <a:off x="914400" y="2628900"/>
          <a:ext cx="16433800" cy="6337300"/>
        </p:xfrm>
        <a:graphic>
          <a:graphicData uri="http://schemas.openxmlformats.org/drawingml/2006/table">
            <a:tbl>
              <a:tblPr/>
              <a:tblGrid>
                <a:gridCol w="4056325"/>
                <a:gridCol w="5368943"/>
                <a:gridCol w="7008532"/>
              </a:tblGrid>
              <a:tr h="867996">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기존 문제</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해결이 필요한 이유</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c>
                  <a:txBody>
                    <a:bodyPr anchor="t" rtlCol="false"/>
                    <a:lstStyle/>
                    <a:p>
                      <a:pPr algn="l">
                        <a:lnSpc>
                          <a:spcPts val="3419"/>
                        </a:lnSpc>
                        <a:defRPr/>
                      </a:pPr>
                      <a:r>
                        <a:rPr lang="en-US" sz="2850" b="true">
                          <a:solidFill>
                            <a:srgbClr val="2864DC"/>
                          </a:solidFill>
                          <a:latin typeface="Noto Sans Bold"/>
                          <a:ea typeface="Noto Sans Bold"/>
                          <a:cs typeface="Noto Sans Bold"/>
                          <a:sym typeface="Noto Sans Bold"/>
                        </a:rPr>
                        <a:t>개선 내용</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r>
              <a:tr h="1367326">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업무 외 입력도</a:t>
                      </a:r>
                      <a:endParaRPr lang="en-US" sz="1100"/>
                    </a:p>
                    <a:p>
                      <a:pPr algn="l">
                        <a:lnSpc>
                          <a:spcPts val="3419"/>
                        </a:lnSpc>
                      </a:pPr>
                      <a:r>
                        <a:rPr lang="en-US" sz="2850">
                          <a:solidFill>
                            <a:srgbClr val="142338"/>
                          </a:solidFill>
                          <a:latin typeface="Noto Sans Kr"/>
                          <a:ea typeface="Noto Sans Kr"/>
                          <a:cs typeface="Noto Sans Kr"/>
                          <a:sym typeface="Noto Sans Kr"/>
                        </a:rPr>
                        <a:t>모델·도구 호출</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조사 가치 없는 요청의</a:t>
                      </a:r>
                      <a:endParaRPr lang="en-US" sz="1100"/>
                    </a:p>
                    <a:p>
                      <a:pPr algn="l">
                        <a:lnSpc>
                          <a:spcPts val="3419"/>
                        </a:lnSpc>
                      </a:pPr>
                      <a:r>
                        <a:rPr lang="en-US" sz="2850">
                          <a:solidFill>
                            <a:srgbClr val="142338"/>
                          </a:solidFill>
                          <a:latin typeface="Noto Sans Kr"/>
                          <a:ea typeface="Noto Sans Kr"/>
                          <a:cs typeface="Noto Sans Kr"/>
                          <a:sym typeface="Noto Sans Kr"/>
                        </a:rPr>
                        <a:t>토큰·시간 낭비</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로컬 입력 validation</a:t>
                      </a:r>
                      <a:endParaRPr lang="en-US" sz="1100"/>
                    </a:p>
                    <a:p>
                      <a:pPr algn="l">
                        <a:lnSpc>
                          <a:spcPts val="3419"/>
                        </a:lnSpc>
                      </a:pPr>
                      <a:r>
                        <a:rPr lang="en-US" sz="2850">
                          <a:solidFill>
                            <a:srgbClr val="142338"/>
                          </a:solidFill>
                          <a:latin typeface="Noto Sans Kr"/>
                          <a:ea typeface="Noto Sans Kr"/>
                          <a:cs typeface="Noto Sans Kr"/>
                          <a:sym typeface="Noto Sans Kr"/>
                        </a:rPr>
                        <a:t>생성·도구 실행 전에 반환</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367326">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CPU·경고로</a:t>
                      </a:r>
                      <a:endParaRPr lang="en-US" sz="1100"/>
                    </a:p>
                    <a:p>
                      <a:pPr algn="l">
                        <a:lnSpc>
                          <a:spcPts val="3419"/>
                        </a:lnSpc>
                      </a:pPr>
                      <a:r>
                        <a:rPr lang="en-US" sz="2850">
                          <a:solidFill>
                            <a:srgbClr val="142338"/>
                          </a:solidFill>
                          <a:latin typeface="Noto Sans Kr"/>
                          <a:ea typeface="Noto Sans Kr"/>
                          <a:cs typeface="Noto Sans Kr"/>
                          <a:sym typeface="Noto Sans Kr"/>
                        </a:rPr>
                        <a:t>원인 추정</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경고와 실제 자원 사용의</a:t>
                      </a:r>
                      <a:endParaRPr lang="en-US" sz="1100"/>
                    </a:p>
                    <a:p>
                      <a:pPr algn="l">
                        <a:lnSpc>
                          <a:spcPts val="3419"/>
                        </a:lnSpc>
                      </a:pPr>
                      <a:r>
                        <a:rPr lang="en-US" sz="2850">
                          <a:solidFill>
                            <a:srgbClr val="142338"/>
                          </a:solidFill>
                          <a:latin typeface="Noto Sans Kr"/>
                          <a:ea typeface="Noto Sans Kr"/>
                          <a:cs typeface="Noto Sans Kr"/>
                          <a:sym typeface="Noto Sans Kr"/>
                        </a:rPr>
                        <a:t>연관성 확인 필요</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경쟁 가설과 사전 판정 조건</a:t>
                      </a:r>
                      <a:endParaRPr lang="en-US" sz="1100"/>
                    </a:p>
                    <a:p>
                      <a:pPr algn="l">
                        <a:lnSpc>
                          <a:spcPts val="3419"/>
                        </a:lnSpc>
                      </a:pPr>
                      <a:r>
                        <a:rPr lang="en-US" sz="2850">
                          <a:solidFill>
                            <a:srgbClr val="142338"/>
                          </a:solidFill>
                          <a:latin typeface="Noto Sans Kr"/>
                          <a:ea typeface="Noto Sans Kr"/>
                          <a:cs typeface="Noto Sans Kr"/>
                          <a:sym typeface="Noto Sans Kr"/>
                        </a:rPr>
                        <a:t>추가 관측으로 지지·반증</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367326">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키워드 검색과</a:t>
                      </a:r>
                      <a:endParaRPr lang="en-US" sz="1100"/>
                    </a:p>
                    <a:p>
                      <a:pPr algn="l">
                        <a:lnSpc>
                          <a:spcPts val="3419"/>
                        </a:lnSpc>
                      </a:pPr>
                      <a:r>
                        <a:rPr lang="en-US" sz="2850">
                          <a:solidFill>
                            <a:srgbClr val="142338"/>
                          </a:solidFill>
                          <a:latin typeface="Noto Sans Kr"/>
                          <a:ea typeface="Noto Sans Kr"/>
                          <a:cs typeface="Noto Sans Kr"/>
                          <a:sym typeface="Noto Sans Kr"/>
                        </a:rPr>
                        <a:t>일부 조회 실패</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복합 근거 누락과</a:t>
                      </a:r>
                      <a:endParaRPr lang="en-US" sz="1100"/>
                    </a:p>
                    <a:p>
                      <a:pPr algn="l">
                        <a:lnSpc>
                          <a:spcPts val="3419"/>
                        </a:lnSpc>
                      </a:pPr>
                      <a:r>
                        <a:rPr lang="en-US" sz="2850">
                          <a:solidFill>
                            <a:srgbClr val="142338"/>
                          </a:solidFill>
                          <a:latin typeface="Noto Sans Kr"/>
                          <a:ea typeface="Noto Sans Kr"/>
                          <a:cs typeface="Noto Sans Kr"/>
                          <a:sym typeface="Noto Sans Kr"/>
                        </a:rPr>
                        <a:t>전체 요청 중단 위험</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다중 런북 의미 검색</a:t>
                      </a:r>
                      <a:endParaRPr lang="en-US" sz="1100"/>
                    </a:p>
                    <a:p>
                      <a:pPr algn="l">
                        <a:lnSpc>
                          <a:spcPts val="3419"/>
                        </a:lnSpc>
                      </a:pPr>
                      <a:r>
                        <a:rPr lang="en-US" sz="2850">
                          <a:solidFill>
                            <a:srgbClr val="142338"/>
                          </a:solidFill>
                          <a:latin typeface="Noto Sans Kr"/>
                          <a:ea typeface="Noto Sans Kr"/>
                          <a:cs typeface="Noto Sans Kr"/>
                          <a:sym typeface="Noto Sans Kr"/>
                        </a:rPr>
                        <a:t>실패 격리·성공 결과 보존</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367326">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수치·출처 오류와</a:t>
                      </a:r>
                      <a:endParaRPr lang="en-US" sz="1100"/>
                    </a:p>
                    <a:p>
                      <a:pPr algn="l">
                        <a:lnSpc>
                          <a:spcPts val="3419"/>
                        </a:lnSpc>
                      </a:pPr>
                      <a:r>
                        <a:rPr lang="en-US" sz="2850">
                          <a:solidFill>
                            <a:srgbClr val="142338"/>
                          </a:solidFill>
                          <a:latin typeface="Noto Sans Kr"/>
                          <a:ea typeface="Noto Sans Kr"/>
                          <a:cs typeface="Noto Sans Kr"/>
                          <a:sym typeface="Noto Sans Kr"/>
                        </a:rPr>
                        <a:t>반복 생성</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보고서 신뢰 하락과</a:t>
                      </a:r>
                      <a:endParaRPr lang="en-US" sz="1100"/>
                    </a:p>
                    <a:p>
                      <a:pPr algn="l">
                        <a:lnSpc>
                          <a:spcPts val="3419"/>
                        </a:lnSpc>
                      </a:pPr>
                      <a:r>
                        <a:rPr lang="en-US" sz="2850">
                          <a:solidFill>
                            <a:srgbClr val="142338"/>
                          </a:solidFill>
                          <a:latin typeface="Noto Sans Kr"/>
                          <a:ea typeface="Noto Sans Kr"/>
                          <a:cs typeface="Noto Sans Kr"/>
                          <a:sym typeface="Noto Sans Kr"/>
                        </a:rPr>
                        <a:t>반복 호출 비용 증가</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419"/>
                        </a:lnSpc>
                        <a:defRPr/>
                      </a:pPr>
                      <a:r>
                        <a:rPr lang="en-US" sz="2850">
                          <a:solidFill>
                            <a:srgbClr val="142338"/>
                          </a:solidFill>
                          <a:latin typeface="Noto Sans Kr"/>
                          <a:ea typeface="Noto Sans Kr"/>
                          <a:cs typeface="Noto Sans Kr"/>
                          <a:sym typeface="Noto Sans Kr"/>
                        </a:rPr>
                        <a:t>사실·조치 조건 검증</a:t>
                      </a:r>
                      <a:endParaRPr lang="en-US" sz="1100"/>
                    </a:p>
                    <a:p>
                      <a:pPr algn="l">
                        <a:lnSpc>
                          <a:spcPts val="3419"/>
                        </a:lnSpc>
                      </a:pPr>
                      <a:r>
                        <a:rPr lang="en-US" sz="2850">
                          <a:solidFill>
                            <a:srgbClr val="142338"/>
                          </a:solidFill>
                          <a:latin typeface="Noto Sans Kr"/>
                          <a:ea typeface="Noto Sans Kr"/>
                          <a:cs typeface="Noto Sans Kr"/>
                          <a:sym typeface="Noto Sans Kr"/>
                        </a:rPr>
                        <a:t>조회 4회·작성 3회 한도</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Tree>
  </p:cSld>
  <p:clrMapOvr>
    <a:masterClrMapping/>
  </p:clrMapOvr>
</p:sld>
</file>

<file path=ppt/slides/slide3.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AutoShape 2" id="2"/>
          <p:cNvSpPr/>
          <p:nvPr/>
        </p:nvSpPr>
        <p:spPr>
          <a:xfrm rot="98220">
            <a:off x="12901412" y="3324225"/>
            <a:ext cx="1000535" cy="19050"/>
          </a:xfrm>
          <a:prstGeom prst="line">
            <a:avLst/>
          </a:prstGeom>
          <a:ln cap="rnd" w="19050">
            <a:solidFill>
              <a:srgbClr val="2864DC"/>
            </a:solidFill>
            <a:prstDash val="solid"/>
            <a:headEnd type="none" len="sm" w="sm"/>
            <a:tailEnd type="triangle" len="med" w="lg"/>
          </a:ln>
        </p:spPr>
      </p:sp>
      <p:sp>
        <p:nvSpPr>
          <p:cNvPr name="AutoShape 3" id="3"/>
          <p:cNvSpPr/>
          <p:nvPr/>
        </p:nvSpPr>
        <p:spPr>
          <a:xfrm rot="98220">
            <a:off x="8577062" y="3324225"/>
            <a:ext cx="1000535" cy="19050"/>
          </a:xfrm>
          <a:prstGeom prst="line">
            <a:avLst/>
          </a:prstGeom>
          <a:ln cap="rnd" w="19050">
            <a:solidFill>
              <a:srgbClr val="2864DC"/>
            </a:solidFill>
            <a:prstDash val="solid"/>
            <a:headEnd type="none" len="sm" w="sm"/>
            <a:tailEnd type="triangle" len="med" w="lg"/>
          </a:ln>
        </p:spPr>
      </p:sp>
      <p:sp>
        <p:nvSpPr>
          <p:cNvPr name="AutoShape 4" id="4"/>
          <p:cNvSpPr/>
          <p:nvPr/>
        </p:nvSpPr>
        <p:spPr>
          <a:xfrm rot="98220">
            <a:off x="4252712" y="3324225"/>
            <a:ext cx="1000535" cy="19050"/>
          </a:xfrm>
          <a:prstGeom prst="line">
            <a:avLst/>
          </a:prstGeom>
          <a:ln cap="rnd" w="19050">
            <a:solidFill>
              <a:srgbClr val="2864DC"/>
            </a:solidFill>
            <a:prstDash val="solid"/>
            <a:headEnd type="none" len="sm" w="sm"/>
            <a:tailEnd type="triangle" len="med" w="lg"/>
          </a:ln>
        </p:spPr>
      </p:sp>
      <p:sp>
        <p:nvSpPr>
          <p:cNvPr name="TextBox 5" id="5"/>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2) 문제 개선 및 신규 구현 사항</a:t>
            </a:r>
          </a:p>
        </p:txBody>
      </p:sp>
      <p:sp>
        <p:nvSpPr>
          <p:cNvPr name="TextBox 6" id="6"/>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핵심 기능과 가설 조사 차별점</a:t>
            </a:r>
          </a:p>
        </p:txBody>
      </p:sp>
      <p:sp>
        <p:nvSpPr>
          <p:cNvPr name="AutoShape 7" id="7"/>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8" id="8"/>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추가 조사 이유·사전 조건·판단 전후를 사용자에게 공개</a:t>
            </a:r>
          </a:p>
        </p:txBody>
      </p:sp>
      <p:sp>
        <p:nvSpPr>
          <p:cNvPr name="TextBox 9" id="9"/>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03</a:t>
            </a:r>
          </a:p>
        </p:txBody>
      </p:sp>
      <p:grpSp>
        <p:nvGrpSpPr>
          <p:cNvPr name="Group 10" id="10"/>
          <p:cNvGrpSpPr/>
          <p:nvPr/>
        </p:nvGrpSpPr>
        <p:grpSpPr>
          <a:xfrm rot="0">
            <a:off x="904875" y="2771775"/>
            <a:ext cx="3371850" cy="1123950"/>
            <a:chOff x="0" y="0"/>
            <a:chExt cx="4495800" cy="1498600"/>
          </a:xfrm>
        </p:grpSpPr>
        <p:sp>
          <p:nvSpPr>
            <p:cNvPr name="Freeform 11" id="11"/>
            <p:cNvSpPr/>
            <p:nvPr/>
          </p:nvSpPr>
          <p:spPr>
            <a:xfrm flipH="false" flipV="false" rot="0">
              <a:off x="0" y="0"/>
              <a:ext cx="4495800" cy="1498600"/>
            </a:xfrm>
            <a:custGeom>
              <a:avLst/>
              <a:gdLst/>
              <a:ahLst/>
              <a:cxnLst/>
              <a:rect r="r" b="b" t="t" l="l"/>
              <a:pathLst>
                <a:path h="1498600" w="4495800">
                  <a:moveTo>
                    <a:pt x="0" y="0"/>
                  </a:moveTo>
                  <a:lnTo>
                    <a:pt x="4495800" y="0"/>
                  </a:lnTo>
                  <a:lnTo>
                    <a:pt x="4495800" y="1498600"/>
                  </a:lnTo>
                  <a:lnTo>
                    <a:pt x="0" y="1498600"/>
                  </a:lnTo>
                  <a:close/>
                </a:path>
              </a:pathLst>
            </a:custGeom>
            <a:solidFill>
              <a:srgbClr val="E9EFFB"/>
            </a:solidFill>
            <a:ln w="19050" cap="sq">
              <a:solidFill>
                <a:srgbClr val="2864DC"/>
              </a:solidFill>
              <a:prstDash val="solid"/>
              <a:miter/>
            </a:ln>
          </p:spPr>
        </p:sp>
        <p:sp>
          <p:nvSpPr>
            <p:cNvPr name="TextBox 12" id="12"/>
            <p:cNvSpPr txBox="true"/>
            <p:nvPr/>
          </p:nvSpPr>
          <p:spPr>
            <a:xfrm>
              <a:off x="0" y="0"/>
              <a:ext cx="4495800" cy="1498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판정 조건 기록</a:t>
              </a:r>
            </a:p>
          </p:txBody>
        </p:sp>
      </p:grpSp>
      <p:grpSp>
        <p:nvGrpSpPr>
          <p:cNvPr name="Group 13" id="13"/>
          <p:cNvGrpSpPr/>
          <p:nvPr/>
        </p:nvGrpSpPr>
        <p:grpSpPr>
          <a:xfrm rot="0">
            <a:off x="5229225" y="2771775"/>
            <a:ext cx="3371850" cy="1123950"/>
            <a:chOff x="0" y="0"/>
            <a:chExt cx="4495800" cy="1498600"/>
          </a:xfrm>
        </p:grpSpPr>
        <p:sp>
          <p:nvSpPr>
            <p:cNvPr name="Freeform 14" id="14"/>
            <p:cNvSpPr/>
            <p:nvPr/>
          </p:nvSpPr>
          <p:spPr>
            <a:xfrm flipH="false" flipV="false" rot="0">
              <a:off x="0" y="0"/>
              <a:ext cx="4495800" cy="1498600"/>
            </a:xfrm>
            <a:custGeom>
              <a:avLst/>
              <a:gdLst/>
              <a:ahLst/>
              <a:cxnLst/>
              <a:rect r="r" b="b" t="t" l="l"/>
              <a:pathLst>
                <a:path h="1498600" w="4495800">
                  <a:moveTo>
                    <a:pt x="0" y="0"/>
                  </a:moveTo>
                  <a:lnTo>
                    <a:pt x="4495800" y="0"/>
                  </a:lnTo>
                  <a:lnTo>
                    <a:pt x="4495800" y="1498600"/>
                  </a:lnTo>
                  <a:lnTo>
                    <a:pt x="0" y="1498600"/>
                  </a:lnTo>
                  <a:close/>
                </a:path>
              </a:pathLst>
            </a:custGeom>
            <a:solidFill>
              <a:srgbClr val="E9EFFB"/>
            </a:solidFill>
            <a:ln w="19050" cap="sq">
              <a:solidFill>
                <a:srgbClr val="2864DC"/>
              </a:solidFill>
              <a:prstDash val="solid"/>
              <a:miter/>
            </a:ln>
          </p:spPr>
        </p:sp>
        <p:sp>
          <p:nvSpPr>
            <p:cNvPr name="TextBox 15" id="15"/>
            <p:cNvSpPr txBox="true"/>
            <p:nvPr/>
          </p:nvSpPr>
          <p:spPr>
            <a:xfrm>
              <a:off x="0" y="0"/>
              <a:ext cx="4495800" cy="1498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LLM 질문 선택</a:t>
              </a:r>
            </a:p>
          </p:txBody>
        </p:sp>
      </p:grpSp>
      <p:grpSp>
        <p:nvGrpSpPr>
          <p:cNvPr name="Group 16" id="16"/>
          <p:cNvGrpSpPr/>
          <p:nvPr/>
        </p:nvGrpSpPr>
        <p:grpSpPr>
          <a:xfrm rot="0">
            <a:off x="9553575" y="2771775"/>
            <a:ext cx="3371850" cy="1123950"/>
            <a:chOff x="0" y="0"/>
            <a:chExt cx="4495800" cy="1498600"/>
          </a:xfrm>
        </p:grpSpPr>
        <p:sp>
          <p:nvSpPr>
            <p:cNvPr name="Freeform 17" id="17"/>
            <p:cNvSpPr/>
            <p:nvPr/>
          </p:nvSpPr>
          <p:spPr>
            <a:xfrm flipH="false" flipV="false" rot="0">
              <a:off x="0" y="0"/>
              <a:ext cx="4495800" cy="1498600"/>
            </a:xfrm>
            <a:custGeom>
              <a:avLst/>
              <a:gdLst/>
              <a:ahLst/>
              <a:cxnLst/>
              <a:rect r="r" b="b" t="t" l="l"/>
              <a:pathLst>
                <a:path h="1498600" w="4495800">
                  <a:moveTo>
                    <a:pt x="0" y="0"/>
                  </a:moveTo>
                  <a:lnTo>
                    <a:pt x="4495800" y="0"/>
                  </a:lnTo>
                  <a:lnTo>
                    <a:pt x="4495800" y="1498600"/>
                  </a:lnTo>
                  <a:lnTo>
                    <a:pt x="0" y="1498600"/>
                  </a:lnTo>
                  <a:close/>
                </a:path>
              </a:pathLst>
            </a:custGeom>
            <a:solidFill>
              <a:srgbClr val="E9EFFB"/>
            </a:solidFill>
            <a:ln w="19050" cap="sq">
              <a:solidFill>
                <a:srgbClr val="2864DC"/>
              </a:solidFill>
              <a:prstDash val="solid"/>
              <a:miter/>
            </a:ln>
          </p:spPr>
        </p:sp>
        <p:sp>
          <p:nvSpPr>
            <p:cNvPr name="TextBox 18" id="18"/>
            <p:cNvSpPr txBox="true"/>
            <p:nvPr/>
          </p:nvSpPr>
          <p:spPr>
            <a:xfrm>
              <a:off x="0" y="0"/>
              <a:ext cx="4495800" cy="1498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추가 관측</a:t>
              </a:r>
            </a:p>
          </p:txBody>
        </p:sp>
      </p:grpSp>
      <p:grpSp>
        <p:nvGrpSpPr>
          <p:cNvPr name="Group 19" id="19"/>
          <p:cNvGrpSpPr/>
          <p:nvPr/>
        </p:nvGrpSpPr>
        <p:grpSpPr>
          <a:xfrm rot="0">
            <a:off x="13877925" y="2771775"/>
            <a:ext cx="3505200" cy="1123950"/>
            <a:chOff x="0" y="0"/>
            <a:chExt cx="4673600" cy="1498600"/>
          </a:xfrm>
        </p:grpSpPr>
        <p:sp>
          <p:nvSpPr>
            <p:cNvPr name="Freeform 20" id="20"/>
            <p:cNvSpPr/>
            <p:nvPr/>
          </p:nvSpPr>
          <p:spPr>
            <a:xfrm flipH="false" flipV="false" rot="0">
              <a:off x="0" y="0"/>
              <a:ext cx="4673600" cy="1498600"/>
            </a:xfrm>
            <a:custGeom>
              <a:avLst/>
              <a:gdLst/>
              <a:ahLst/>
              <a:cxnLst/>
              <a:rect r="r" b="b" t="t" l="l"/>
              <a:pathLst>
                <a:path h="1498600" w="4673600">
                  <a:moveTo>
                    <a:pt x="0" y="0"/>
                  </a:moveTo>
                  <a:lnTo>
                    <a:pt x="4673600" y="0"/>
                  </a:lnTo>
                  <a:lnTo>
                    <a:pt x="4673600" y="1498600"/>
                  </a:lnTo>
                  <a:lnTo>
                    <a:pt x="0" y="1498600"/>
                  </a:lnTo>
                  <a:close/>
                </a:path>
              </a:pathLst>
            </a:custGeom>
            <a:solidFill>
              <a:srgbClr val="E9EFFB"/>
            </a:solidFill>
            <a:ln w="19050" cap="sq">
              <a:solidFill>
                <a:srgbClr val="2864DC"/>
              </a:solidFill>
              <a:prstDash val="solid"/>
              <a:miter/>
            </a:ln>
          </p:spPr>
        </p:sp>
        <p:sp>
          <p:nvSpPr>
            <p:cNvPr name="TextBox 21" id="21"/>
            <p:cNvSpPr txBox="true"/>
            <p:nvPr/>
          </p:nvSpPr>
          <p:spPr>
            <a:xfrm>
              <a:off x="0" y="0"/>
              <a:ext cx="4673600" cy="1498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가설 갱신</a:t>
              </a:r>
            </a:p>
          </p:txBody>
        </p:sp>
      </p:grpSp>
      <p:sp>
        <p:nvSpPr>
          <p:cNvPr name="TextBox 22" id="22"/>
          <p:cNvSpPr txBox="true"/>
          <p:nvPr/>
        </p:nvSpPr>
        <p:spPr>
          <a:xfrm rot="0">
            <a:off x="914400" y="4305300"/>
            <a:ext cx="16459200" cy="647700"/>
          </a:xfrm>
          <a:prstGeom prst="rect">
            <a:avLst/>
          </a:prstGeom>
        </p:spPr>
        <p:txBody>
          <a:bodyPr anchor="t" rtlCol="false" tIns="0" lIns="0" bIns="0" rIns="0">
            <a:spAutoFit/>
          </a:bodyPr>
          <a:lstStyle/>
          <a:p>
            <a:pPr algn="l">
              <a:lnSpc>
                <a:spcPts val="4140"/>
              </a:lnSpc>
            </a:pPr>
            <a:r>
              <a:rPr lang="en-US" sz="3450" b="true">
                <a:solidFill>
                  <a:srgbClr val="2864DC"/>
                </a:solidFill>
                <a:latin typeface="Noto Sans Bold"/>
                <a:ea typeface="Noto Sans Bold"/>
                <a:cs typeface="Noto Sans Bold"/>
                <a:sym typeface="Noto Sans Bold"/>
              </a:rPr>
              <a:t>단서 지지 · 교차 지지 · 반증 · 상충 · 판단 보류</a:t>
            </a:r>
          </a:p>
        </p:txBody>
      </p:sp>
      <p:sp>
        <p:nvSpPr>
          <p:cNvPr name="AutoShape 23" id="23"/>
          <p:cNvSpPr/>
          <p:nvPr/>
        </p:nvSpPr>
        <p:spPr>
          <a:xfrm rot="3960">
            <a:off x="904865" y="5372100"/>
            <a:ext cx="16478260" cy="0"/>
          </a:xfrm>
          <a:prstGeom prst="line">
            <a:avLst/>
          </a:prstGeom>
          <a:ln cap="rnd" w="19050">
            <a:solidFill>
              <a:srgbClr val="D2DBE6"/>
            </a:solidFill>
            <a:prstDash val="solid"/>
            <a:headEnd type="none" len="sm" w="sm"/>
            <a:tailEnd type="none" len="sm" w="sm"/>
          </a:ln>
        </p:spPr>
      </p:sp>
      <p:sp>
        <p:nvSpPr>
          <p:cNvPr name="TextBox 24" id="24"/>
          <p:cNvSpPr txBox="true"/>
          <p:nvPr/>
        </p:nvSpPr>
        <p:spPr>
          <a:xfrm rot="0">
            <a:off x="914400" y="5791200"/>
            <a:ext cx="7334250" cy="619125"/>
          </a:xfrm>
          <a:prstGeom prst="rect">
            <a:avLst/>
          </a:prstGeom>
        </p:spPr>
        <p:txBody>
          <a:bodyPr anchor="t" rtlCol="false" tIns="0" lIns="0" bIns="0" rIns="0">
            <a:spAutoFit/>
          </a:bodyPr>
          <a:lstStyle/>
          <a:p>
            <a:pPr algn="l">
              <a:lnSpc>
                <a:spcPts val="4140"/>
              </a:lnSpc>
            </a:pPr>
            <a:r>
              <a:rPr lang="en-US" sz="3450" b="true">
                <a:solidFill>
                  <a:srgbClr val="142338"/>
                </a:solidFill>
                <a:latin typeface="Noto Sans Bold"/>
                <a:ea typeface="Noto Sans Bold"/>
                <a:cs typeface="Noto Sans Bold"/>
                <a:sym typeface="Noto Sans Bold"/>
              </a:rPr>
              <a:t>조사 통제</a:t>
            </a:r>
          </a:p>
        </p:txBody>
      </p:sp>
      <p:sp>
        <p:nvSpPr>
          <p:cNvPr name="TextBox 25" id="25"/>
          <p:cNvSpPr txBox="true"/>
          <p:nvPr/>
        </p:nvSpPr>
        <p:spPr>
          <a:xfrm rot="0">
            <a:off x="914400" y="6648450"/>
            <a:ext cx="7524750" cy="1943100"/>
          </a:xfrm>
          <a:prstGeom prst="rect">
            <a:avLst/>
          </a:prstGeom>
        </p:spPr>
        <p:txBody>
          <a:bodyPr anchor="t" rtlCol="false" tIns="0" lIns="0" bIns="0" rIns="0">
            <a:spAutoFit/>
          </a:bodyPr>
          <a:lstStyle/>
          <a:p>
            <a:pPr algn="l">
              <a:lnSpc>
                <a:spcPts val="3419"/>
              </a:lnSpc>
            </a:pPr>
            <a:r>
              <a:rPr lang="en-US" sz="2850">
                <a:solidFill>
                  <a:srgbClr val="526176"/>
                </a:solidFill>
                <a:latin typeface="Noto Sans Kr"/>
                <a:ea typeface="Noto Sans Kr"/>
                <a:cs typeface="Noto Sans Kr"/>
                <a:sym typeface="Noto Sans Kr"/>
              </a:rPr>
              <a:t>같은 5분 구간의 관측 대조</a:t>
            </a:r>
          </a:p>
          <a:p>
            <a:pPr algn="l">
              <a:lnSpc>
                <a:spcPts val="3419"/>
              </a:lnSpc>
            </a:pPr>
            <a:r>
              <a:rPr lang="en-US" sz="2850">
                <a:solidFill>
                  <a:srgbClr val="526176"/>
                </a:solidFill>
                <a:latin typeface="Noto Sans Kr"/>
                <a:ea typeface="Noto Sans Kr"/>
                <a:cs typeface="Noto Sans Kr"/>
                <a:sym typeface="Noto Sans Kr"/>
              </a:rPr>
              <a:t>미수행 질문만 선택, 전체 최대 4회</a:t>
            </a:r>
          </a:p>
          <a:p>
            <a:pPr algn="l">
              <a:lnSpc>
                <a:spcPts val="3419"/>
              </a:lnSpc>
            </a:pPr>
            <a:r>
              <a:rPr lang="en-US" sz="2850">
                <a:solidFill>
                  <a:srgbClr val="526176"/>
                </a:solidFill>
                <a:latin typeface="Noto Sans Kr"/>
                <a:ea typeface="Noto Sans Kr"/>
                <a:cs typeface="Noto Sans Kr"/>
                <a:sym typeface="Noto Sans Kr"/>
              </a:rPr>
              <a:t>충분한 구별 근거가 있으면 조기 종료</a:t>
            </a:r>
          </a:p>
        </p:txBody>
      </p:sp>
      <p:sp>
        <p:nvSpPr>
          <p:cNvPr name="TextBox 26" id="26"/>
          <p:cNvSpPr txBox="true"/>
          <p:nvPr/>
        </p:nvSpPr>
        <p:spPr>
          <a:xfrm rot="0">
            <a:off x="9563100" y="5791200"/>
            <a:ext cx="7810500" cy="619125"/>
          </a:xfrm>
          <a:prstGeom prst="rect">
            <a:avLst/>
          </a:prstGeom>
        </p:spPr>
        <p:txBody>
          <a:bodyPr anchor="t" rtlCol="false" tIns="0" lIns="0" bIns="0" rIns="0">
            <a:spAutoFit/>
          </a:bodyPr>
          <a:lstStyle/>
          <a:p>
            <a:pPr algn="l">
              <a:lnSpc>
                <a:spcPts val="4140"/>
              </a:lnSpc>
            </a:pPr>
            <a:r>
              <a:rPr lang="en-US" sz="3450" b="true">
                <a:solidFill>
                  <a:srgbClr val="142338"/>
                </a:solidFill>
                <a:latin typeface="Noto Sans Bold"/>
                <a:ea typeface="Noto Sans Bold"/>
                <a:cs typeface="Noto Sans Bold"/>
                <a:sym typeface="Noto Sans Bold"/>
              </a:rPr>
              <a:t>함께 제공하는 기능</a:t>
            </a:r>
          </a:p>
        </p:txBody>
      </p:sp>
      <p:sp>
        <p:nvSpPr>
          <p:cNvPr name="TextBox 27" id="27"/>
          <p:cNvSpPr txBox="true"/>
          <p:nvPr/>
        </p:nvSpPr>
        <p:spPr>
          <a:xfrm rot="0">
            <a:off x="9563100" y="6648450"/>
            <a:ext cx="7810500" cy="1943100"/>
          </a:xfrm>
          <a:prstGeom prst="rect">
            <a:avLst/>
          </a:prstGeom>
        </p:spPr>
        <p:txBody>
          <a:bodyPr anchor="t" rtlCol="false" tIns="0" lIns="0" bIns="0" rIns="0">
            <a:spAutoFit/>
          </a:bodyPr>
          <a:lstStyle/>
          <a:p>
            <a:pPr algn="l">
              <a:lnSpc>
                <a:spcPts val="3419"/>
              </a:lnSpc>
            </a:pPr>
            <a:r>
              <a:rPr lang="en-US" sz="2850">
                <a:solidFill>
                  <a:srgbClr val="526176"/>
                </a:solidFill>
                <a:latin typeface="Noto Sans Kr"/>
                <a:ea typeface="Noto Sans Kr"/>
                <a:cs typeface="Noto Sans Kr"/>
                <a:sym typeface="Noto Sans Kr"/>
              </a:rPr>
              <a:t>대상 확인과 맥락 있는 후속 질문</a:t>
            </a:r>
          </a:p>
          <a:p>
            <a:pPr algn="l">
              <a:lnSpc>
                <a:spcPts val="3419"/>
              </a:lnSpc>
            </a:pPr>
            <a:r>
              <a:rPr lang="en-US" sz="2850">
                <a:solidFill>
                  <a:srgbClr val="526176"/>
                </a:solidFill>
                <a:latin typeface="Noto Sans Kr"/>
                <a:ea typeface="Noto Sans Kr"/>
                <a:cs typeface="Noto Sans Kr"/>
                <a:sym typeface="Noto Sans Kr"/>
              </a:rPr>
              <a:t>완료 기록·근거·토큰 사용량 복원</a:t>
            </a:r>
          </a:p>
          <a:p>
            <a:pPr algn="l">
              <a:lnSpc>
                <a:spcPts val="3419"/>
              </a:lnSpc>
            </a:pPr>
            <a:r>
              <a:rPr lang="en-US" sz="2850">
                <a:solidFill>
                  <a:srgbClr val="526176"/>
                </a:solidFill>
                <a:latin typeface="Noto Sans Kr"/>
                <a:ea typeface="Noto Sans Kr"/>
                <a:cs typeface="Noto Sans Kr"/>
                <a:sym typeface="Noto Sans Kr"/>
              </a:rPr>
              <a:t>배포 전후 수치 비교와 단계별 진행 표시</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AutoShape 2" id="2"/>
          <p:cNvSpPr/>
          <p:nvPr/>
        </p:nvSpPr>
        <p:spPr>
          <a:xfrm rot="10728900">
            <a:off x="7053110" y="6838950"/>
            <a:ext cx="1381420" cy="19050"/>
          </a:xfrm>
          <a:prstGeom prst="line">
            <a:avLst/>
          </a:prstGeom>
          <a:ln cap="rnd" w="19050">
            <a:solidFill>
              <a:srgbClr val="2864DC"/>
            </a:solidFill>
            <a:prstDash val="solid"/>
            <a:headEnd type="none" len="sm" w="sm"/>
            <a:tailEnd type="triangle" len="med" w="lg"/>
          </a:ln>
        </p:spPr>
      </p:sp>
      <p:sp>
        <p:nvSpPr>
          <p:cNvPr name="AutoShape 3" id="3"/>
          <p:cNvSpPr/>
          <p:nvPr/>
        </p:nvSpPr>
        <p:spPr>
          <a:xfrm rot="10728900">
            <a:off x="12749060" y="6838950"/>
            <a:ext cx="1381420" cy="19050"/>
          </a:xfrm>
          <a:prstGeom prst="line">
            <a:avLst/>
          </a:prstGeom>
          <a:ln cap="rnd" w="19050">
            <a:solidFill>
              <a:srgbClr val="2864DC"/>
            </a:solidFill>
            <a:prstDash val="solid"/>
            <a:headEnd type="none" len="sm" w="sm"/>
            <a:tailEnd type="triangle" len="med" w="lg"/>
          </a:ln>
        </p:spPr>
      </p:sp>
      <p:sp>
        <p:nvSpPr>
          <p:cNvPr name="AutoShape 4" id="4"/>
          <p:cNvSpPr/>
          <p:nvPr/>
        </p:nvSpPr>
        <p:spPr>
          <a:xfrm rot="5354940">
            <a:off x="14654117" y="5124450"/>
            <a:ext cx="2181416" cy="19050"/>
          </a:xfrm>
          <a:prstGeom prst="line">
            <a:avLst/>
          </a:prstGeom>
          <a:ln cap="rnd" w="19050">
            <a:solidFill>
              <a:srgbClr val="2864DC"/>
            </a:solidFill>
            <a:prstDash val="solid"/>
            <a:headEnd type="none" len="sm" w="sm"/>
            <a:tailEnd type="triangle" len="med" w="lg"/>
          </a:ln>
        </p:spPr>
      </p:sp>
      <p:sp>
        <p:nvSpPr>
          <p:cNvPr name="AutoShape 5" id="5"/>
          <p:cNvSpPr/>
          <p:nvPr/>
        </p:nvSpPr>
        <p:spPr>
          <a:xfrm rot="5243820">
            <a:off x="1885626" y="4348162"/>
            <a:ext cx="629298" cy="19050"/>
          </a:xfrm>
          <a:prstGeom prst="line">
            <a:avLst/>
          </a:prstGeom>
          <a:ln cap="rnd" w="19050">
            <a:solidFill>
              <a:srgbClr val="2864DC"/>
            </a:solidFill>
            <a:prstDash val="solid"/>
            <a:headEnd type="none" len="sm" w="sm"/>
            <a:tailEnd type="triangle" len="med" w="lg"/>
          </a:ln>
        </p:spPr>
      </p:sp>
      <p:sp>
        <p:nvSpPr>
          <p:cNvPr name="AutoShape 6" id="6"/>
          <p:cNvSpPr/>
          <p:nvPr/>
        </p:nvSpPr>
        <p:spPr>
          <a:xfrm rot="91260">
            <a:off x="13053822" y="3448050"/>
            <a:ext cx="1076706" cy="19050"/>
          </a:xfrm>
          <a:prstGeom prst="line">
            <a:avLst/>
          </a:prstGeom>
          <a:ln cap="rnd" w="19050">
            <a:solidFill>
              <a:srgbClr val="2864DC"/>
            </a:solidFill>
            <a:prstDash val="solid"/>
            <a:headEnd type="none" len="sm" w="sm"/>
            <a:tailEnd type="triangle" len="med" w="lg"/>
          </a:ln>
        </p:spPr>
      </p:sp>
      <p:sp>
        <p:nvSpPr>
          <p:cNvPr name="AutoShape 7" id="7"/>
          <p:cNvSpPr/>
          <p:nvPr/>
        </p:nvSpPr>
        <p:spPr>
          <a:xfrm rot="91260">
            <a:off x="8348472" y="3448050"/>
            <a:ext cx="1076706" cy="19050"/>
          </a:xfrm>
          <a:prstGeom prst="line">
            <a:avLst/>
          </a:prstGeom>
          <a:ln cap="rnd" w="19050">
            <a:solidFill>
              <a:srgbClr val="2864DC"/>
            </a:solidFill>
            <a:prstDash val="solid"/>
            <a:headEnd type="none" len="sm" w="sm"/>
            <a:tailEnd type="triangle" len="med" w="lg"/>
          </a:ln>
        </p:spPr>
      </p:sp>
      <p:sp>
        <p:nvSpPr>
          <p:cNvPr name="AutoShape 8" id="8"/>
          <p:cNvSpPr/>
          <p:nvPr/>
        </p:nvSpPr>
        <p:spPr>
          <a:xfrm rot="91260">
            <a:off x="3471672" y="3448050"/>
            <a:ext cx="1076706" cy="19050"/>
          </a:xfrm>
          <a:prstGeom prst="line">
            <a:avLst/>
          </a:prstGeom>
          <a:ln cap="rnd" w="19050">
            <a:solidFill>
              <a:srgbClr val="2864DC"/>
            </a:solidFill>
            <a:prstDash val="solid"/>
            <a:headEnd type="none" len="sm" w="sm"/>
            <a:tailEnd type="triangle" len="med" w="lg"/>
          </a:ln>
        </p:spPr>
      </p:sp>
      <p:sp>
        <p:nvSpPr>
          <p:cNvPr name="TextBox 9" id="9"/>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3) 적용 기술 요소 / 4) 구현 결과</a:t>
            </a:r>
          </a:p>
        </p:txBody>
      </p:sp>
      <p:sp>
        <p:nvSpPr>
          <p:cNvPr name="TextBox 10" id="10"/>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전체 아키텍처와 처리 흐름</a:t>
            </a:r>
          </a:p>
        </p:txBody>
      </p:sp>
      <p:sp>
        <p:nvSpPr>
          <p:cNvPr name="AutoShape 11" id="11"/>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12" id="12"/>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읽기 전용 MCP / 성공한 근거 유지 / 미해당 진단·배포 점검은 공통 보고 흐름 합류</a:t>
            </a:r>
          </a:p>
        </p:txBody>
      </p:sp>
      <p:sp>
        <p:nvSpPr>
          <p:cNvPr name="TextBox 13" id="13"/>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04</a:t>
            </a:r>
          </a:p>
        </p:txBody>
      </p:sp>
      <p:grpSp>
        <p:nvGrpSpPr>
          <p:cNvPr name="Group 14" id="14"/>
          <p:cNvGrpSpPr/>
          <p:nvPr/>
        </p:nvGrpSpPr>
        <p:grpSpPr>
          <a:xfrm rot="0">
            <a:off x="904875" y="2847975"/>
            <a:ext cx="2590800" cy="1219200"/>
            <a:chOff x="0" y="0"/>
            <a:chExt cx="3454400" cy="1625600"/>
          </a:xfrm>
        </p:grpSpPr>
        <p:sp>
          <p:nvSpPr>
            <p:cNvPr name="Freeform 15" id="15"/>
            <p:cNvSpPr/>
            <p:nvPr/>
          </p:nvSpPr>
          <p:spPr>
            <a:xfrm flipH="false" flipV="false" rot="0">
              <a:off x="0" y="0"/>
              <a:ext cx="3454400" cy="1625600"/>
            </a:xfrm>
            <a:custGeom>
              <a:avLst/>
              <a:gdLst/>
              <a:ahLst/>
              <a:cxnLst/>
              <a:rect r="r" b="b" t="t" l="l"/>
              <a:pathLst>
                <a:path h="1625600" w="3454400">
                  <a:moveTo>
                    <a:pt x="0" y="0"/>
                  </a:moveTo>
                  <a:lnTo>
                    <a:pt x="3454400" y="0"/>
                  </a:lnTo>
                  <a:lnTo>
                    <a:pt x="3454400" y="1625600"/>
                  </a:lnTo>
                  <a:lnTo>
                    <a:pt x="0" y="1625600"/>
                  </a:lnTo>
                  <a:close/>
                </a:path>
              </a:pathLst>
            </a:custGeom>
            <a:solidFill>
              <a:srgbClr val="E9EFFB"/>
            </a:solidFill>
            <a:ln w="19050" cap="sq">
              <a:solidFill>
                <a:srgbClr val="2864DC"/>
              </a:solidFill>
              <a:prstDash val="solid"/>
              <a:miter/>
            </a:ln>
          </p:spPr>
        </p:sp>
        <p:sp>
          <p:nvSpPr>
            <p:cNvPr name="TextBox 16" id="16"/>
            <p:cNvSpPr txBox="true"/>
            <p:nvPr/>
          </p:nvSpPr>
          <p:spPr>
            <a:xfrm>
              <a:off x="0" y="0"/>
              <a:ext cx="3454400" cy="1625600"/>
            </a:xfrm>
            <a:prstGeom prst="rect">
              <a:avLst/>
            </a:prstGeom>
          </p:spPr>
          <p:txBody>
            <a:bodyPr anchor="ctr" rtlCol="false" tIns="50800" lIns="50800" bIns="50800" rIns="50800"/>
            <a:lstStyle/>
            <a:p>
              <a:pPr algn="ctr">
                <a:lnSpc>
                  <a:spcPts val="3329"/>
                </a:lnSpc>
              </a:pPr>
              <a:r>
                <a:rPr lang="en-US" sz="2775" b="true">
                  <a:solidFill>
                    <a:srgbClr val="142338"/>
                  </a:solidFill>
                  <a:latin typeface="Noto Sans Kr Bold"/>
                  <a:ea typeface="Noto Sans Kr Bold"/>
                  <a:cs typeface="Noto Sans Kr Bold"/>
                  <a:sym typeface="Noto Sans Kr Bold"/>
                </a:rPr>
                <a:t>Vue 입력</a:t>
              </a:r>
            </a:p>
            <a:p>
              <a:pPr algn="ctr">
                <a:lnSpc>
                  <a:spcPts val="3329"/>
                </a:lnSpc>
              </a:pPr>
              <a:r>
                <a:rPr lang="en-US" sz="2775" b="true">
                  <a:solidFill>
                    <a:srgbClr val="142338"/>
                  </a:solidFill>
                  <a:latin typeface="Noto Sans Kr Bold"/>
                  <a:ea typeface="Noto Sans Kr Bold"/>
                  <a:cs typeface="Noto Sans Kr Bold"/>
                  <a:sym typeface="Noto Sans Kr Bold"/>
                </a:rPr>
                <a:t>로컬 검증</a:t>
              </a:r>
            </a:p>
          </p:txBody>
        </p:sp>
      </p:grpSp>
      <p:grpSp>
        <p:nvGrpSpPr>
          <p:cNvPr name="Group 17" id="17"/>
          <p:cNvGrpSpPr/>
          <p:nvPr/>
        </p:nvGrpSpPr>
        <p:grpSpPr>
          <a:xfrm rot="0">
            <a:off x="4524375" y="2847975"/>
            <a:ext cx="3848100" cy="1219200"/>
            <a:chOff x="0" y="0"/>
            <a:chExt cx="5130800" cy="1625600"/>
          </a:xfrm>
        </p:grpSpPr>
        <p:sp>
          <p:nvSpPr>
            <p:cNvPr name="Freeform 18" id="18"/>
            <p:cNvSpPr/>
            <p:nvPr/>
          </p:nvSpPr>
          <p:spPr>
            <a:xfrm flipH="false" flipV="false" rot="0">
              <a:off x="0" y="0"/>
              <a:ext cx="5130800" cy="1625600"/>
            </a:xfrm>
            <a:custGeom>
              <a:avLst/>
              <a:gdLst/>
              <a:ahLst/>
              <a:cxnLst/>
              <a:rect r="r" b="b" t="t" l="l"/>
              <a:pathLst>
                <a:path h="1625600" w="5130800">
                  <a:moveTo>
                    <a:pt x="0" y="0"/>
                  </a:moveTo>
                  <a:lnTo>
                    <a:pt x="5130800" y="0"/>
                  </a:lnTo>
                  <a:lnTo>
                    <a:pt x="5130800" y="1625600"/>
                  </a:lnTo>
                  <a:lnTo>
                    <a:pt x="0" y="1625600"/>
                  </a:lnTo>
                  <a:close/>
                </a:path>
              </a:pathLst>
            </a:custGeom>
            <a:solidFill>
              <a:srgbClr val="E9EFFB"/>
            </a:solidFill>
            <a:ln w="19050" cap="sq">
              <a:solidFill>
                <a:srgbClr val="2864DC"/>
              </a:solidFill>
              <a:prstDash val="solid"/>
              <a:miter/>
            </a:ln>
          </p:spPr>
        </p:sp>
        <p:sp>
          <p:nvSpPr>
            <p:cNvPr name="TextBox 19" id="19"/>
            <p:cNvSpPr txBox="true"/>
            <p:nvPr/>
          </p:nvSpPr>
          <p:spPr>
            <a:xfrm>
              <a:off x="0" y="0"/>
              <a:ext cx="5130800" cy="1625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대상 확인</a:t>
              </a:r>
            </a:p>
            <a:p>
              <a:pPr algn="ctr">
                <a:lnSpc>
                  <a:spcPts val="3240"/>
                </a:lnSpc>
              </a:pPr>
              <a:r>
                <a:rPr lang="en-US" sz="2700" b="true">
                  <a:solidFill>
                    <a:srgbClr val="142338"/>
                  </a:solidFill>
                  <a:latin typeface="Noto Sans Kr Bold"/>
                  <a:ea typeface="Noto Sans Kr Bold"/>
                  <a:cs typeface="Noto Sans Kr Bold"/>
                  <a:sym typeface="Noto Sans Kr Bold"/>
                </a:rPr>
                <a:t>LangGraph Supervisor</a:t>
              </a:r>
            </a:p>
          </p:txBody>
        </p:sp>
      </p:grpSp>
      <p:grpSp>
        <p:nvGrpSpPr>
          <p:cNvPr name="Group 20" id="20"/>
          <p:cNvGrpSpPr/>
          <p:nvPr/>
        </p:nvGrpSpPr>
        <p:grpSpPr>
          <a:xfrm rot="0">
            <a:off x="9401175" y="2847975"/>
            <a:ext cx="3676650" cy="1219200"/>
            <a:chOff x="0" y="0"/>
            <a:chExt cx="4902200" cy="1625600"/>
          </a:xfrm>
        </p:grpSpPr>
        <p:sp>
          <p:nvSpPr>
            <p:cNvPr name="Freeform 21" id="21"/>
            <p:cNvSpPr/>
            <p:nvPr/>
          </p:nvSpPr>
          <p:spPr>
            <a:xfrm flipH="false" flipV="false" rot="0">
              <a:off x="0" y="0"/>
              <a:ext cx="4902200" cy="1625600"/>
            </a:xfrm>
            <a:custGeom>
              <a:avLst/>
              <a:gdLst/>
              <a:ahLst/>
              <a:cxnLst/>
              <a:rect r="r" b="b" t="t" l="l"/>
              <a:pathLst>
                <a:path h="1625600" w="4902200">
                  <a:moveTo>
                    <a:pt x="0" y="0"/>
                  </a:moveTo>
                  <a:lnTo>
                    <a:pt x="4902200" y="0"/>
                  </a:lnTo>
                  <a:lnTo>
                    <a:pt x="4902200" y="1625600"/>
                  </a:lnTo>
                  <a:lnTo>
                    <a:pt x="0" y="1625600"/>
                  </a:lnTo>
                  <a:close/>
                </a:path>
              </a:pathLst>
            </a:custGeom>
            <a:solidFill>
              <a:srgbClr val="E9EFFB"/>
            </a:solidFill>
            <a:ln w="19050" cap="sq">
              <a:solidFill>
                <a:srgbClr val="2864DC"/>
              </a:solidFill>
              <a:prstDash val="solid"/>
              <a:miter/>
            </a:ln>
          </p:spPr>
        </p:sp>
        <p:sp>
          <p:nvSpPr>
            <p:cNvPr name="TextBox 22" id="22"/>
            <p:cNvSpPr txBox="true"/>
            <p:nvPr/>
          </p:nvSpPr>
          <p:spPr>
            <a:xfrm>
              <a:off x="0" y="0"/>
              <a:ext cx="4902200" cy="1625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지표·로그</a:t>
              </a:r>
            </a:p>
            <a:p>
              <a:pPr algn="ctr">
                <a:lnSpc>
                  <a:spcPts val="3240"/>
                </a:lnSpc>
              </a:pPr>
              <a:r>
                <a:rPr lang="en-US" sz="2700" b="true">
                  <a:solidFill>
                    <a:srgbClr val="142338"/>
                  </a:solidFill>
                  <a:latin typeface="Noto Sans Kr Bold"/>
                  <a:ea typeface="Noto Sans Kr Bold"/>
                  <a:cs typeface="Noto Sans Kr Bold"/>
                  <a:sym typeface="Noto Sans Kr Bold"/>
                </a:rPr>
                <a:t>전문 서브그래프 병렬</a:t>
              </a:r>
            </a:p>
          </p:txBody>
        </p:sp>
      </p:grpSp>
      <p:grpSp>
        <p:nvGrpSpPr>
          <p:cNvPr name="Group 23" id="23"/>
          <p:cNvGrpSpPr/>
          <p:nvPr/>
        </p:nvGrpSpPr>
        <p:grpSpPr>
          <a:xfrm rot="0">
            <a:off x="14106525" y="2847975"/>
            <a:ext cx="3276600" cy="1219200"/>
            <a:chOff x="0" y="0"/>
            <a:chExt cx="4368800" cy="1625600"/>
          </a:xfrm>
        </p:grpSpPr>
        <p:sp>
          <p:nvSpPr>
            <p:cNvPr name="Freeform 24" id="24"/>
            <p:cNvSpPr/>
            <p:nvPr/>
          </p:nvSpPr>
          <p:spPr>
            <a:xfrm flipH="false" flipV="false" rot="0">
              <a:off x="0" y="0"/>
              <a:ext cx="4368800" cy="1625600"/>
            </a:xfrm>
            <a:custGeom>
              <a:avLst/>
              <a:gdLst/>
              <a:ahLst/>
              <a:cxnLst/>
              <a:rect r="r" b="b" t="t" l="l"/>
              <a:pathLst>
                <a:path h="1625600" w="4368800">
                  <a:moveTo>
                    <a:pt x="0" y="0"/>
                  </a:moveTo>
                  <a:lnTo>
                    <a:pt x="4368800" y="0"/>
                  </a:lnTo>
                  <a:lnTo>
                    <a:pt x="4368800" y="1625600"/>
                  </a:lnTo>
                  <a:lnTo>
                    <a:pt x="0" y="1625600"/>
                  </a:lnTo>
                  <a:close/>
                </a:path>
              </a:pathLst>
            </a:custGeom>
            <a:solidFill>
              <a:srgbClr val="E9EFFB"/>
            </a:solidFill>
            <a:ln w="19050" cap="sq">
              <a:solidFill>
                <a:srgbClr val="2864DC"/>
              </a:solidFill>
              <a:prstDash val="solid"/>
              <a:miter/>
            </a:ln>
          </p:spPr>
        </p:sp>
        <p:sp>
          <p:nvSpPr>
            <p:cNvPr name="TextBox 25" id="25"/>
            <p:cNvSpPr txBox="true"/>
            <p:nvPr/>
          </p:nvSpPr>
          <p:spPr>
            <a:xfrm>
              <a:off x="0" y="0"/>
              <a:ext cx="4368800" cy="16256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관측 기반 RAG</a:t>
              </a:r>
            </a:p>
            <a:p>
              <a:pPr algn="ctr">
                <a:lnSpc>
                  <a:spcPts val="3240"/>
                </a:lnSpc>
              </a:pPr>
              <a:r>
                <a:rPr lang="en-US" sz="2700" b="true">
                  <a:solidFill>
                    <a:srgbClr val="142338"/>
                  </a:solidFill>
                  <a:latin typeface="Noto Sans Kr Bold"/>
                  <a:ea typeface="Noto Sans Kr Bold"/>
                  <a:cs typeface="Noto Sans Kr Bold"/>
                  <a:sym typeface="Noto Sans Kr Bold"/>
                </a:rPr>
                <a:t>런북 근거 통합</a:t>
              </a:r>
            </a:p>
          </p:txBody>
        </p:sp>
      </p:grpSp>
      <p:sp>
        <p:nvSpPr>
          <p:cNvPr name="TextBox 26" id="26"/>
          <p:cNvSpPr txBox="true"/>
          <p:nvPr/>
        </p:nvSpPr>
        <p:spPr>
          <a:xfrm rot="0">
            <a:off x="3724275" y="3143250"/>
            <a:ext cx="762000" cy="53340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통과</a:t>
            </a:r>
          </a:p>
        </p:txBody>
      </p:sp>
      <p:grpSp>
        <p:nvGrpSpPr>
          <p:cNvPr name="Group 27" id="27"/>
          <p:cNvGrpSpPr/>
          <p:nvPr/>
        </p:nvGrpSpPr>
        <p:grpSpPr>
          <a:xfrm rot="0">
            <a:off x="904875" y="4648200"/>
            <a:ext cx="2590800" cy="971550"/>
            <a:chOff x="0" y="0"/>
            <a:chExt cx="3454400" cy="1295400"/>
          </a:xfrm>
        </p:grpSpPr>
        <p:sp>
          <p:nvSpPr>
            <p:cNvPr name="Freeform 28" id="28"/>
            <p:cNvSpPr/>
            <p:nvPr/>
          </p:nvSpPr>
          <p:spPr>
            <a:xfrm flipH="false" flipV="false" rot="0">
              <a:off x="0" y="0"/>
              <a:ext cx="3454400" cy="1295400"/>
            </a:xfrm>
            <a:custGeom>
              <a:avLst/>
              <a:gdLst/>
              <a:ahLst/>
              <a:cxnLst/>
              <a:rect r="r" b="b" t="t" l="l"/>
              <a:pathLst>
                <a:path h="1295400" w="3454400">
                  <a:moveTo>
                    <a:pt x="0" y="0"/>
                  </a:moveTo>
                  <a:lnTo>
                    <a:pt x="3454400" y="0"/>
                  </a:lnTo>
                  <a:lnTo>
                    <a:pt x="3454400" y="1295400"/>
                  </a:lnTo>
                  <a:lnTo>
                    <a:pt x="0" y="1295400"/>
                  </a:lnTo>
                  <a:close/>
                </a:path>
              </a:pathLst>
            </a:custGeom>
            <a:solidFill>
              <a:srgbClr val="E9EFFB"/>
            </a:solidFill>
            <a:ln w="19050" cap="sq">
              <a:solidFill>
                <a:srgbClr val="2864DC"/>
              </a:solidFill>
              <a:prstDash val="solid"/>
              <a:miter/>
            </a:ln>
          </p:spPr>
        </p:sp>
        <p:sp>
          <p:nvSpPr>
            <p:cNvPr name="TextBox 29" id="29"/>
            <p:cNvSpPr txBox="true"/>
            <p:nvPr/>
          </p:nvSpPr>
          <p:spPr>
            <a:xfrm>
              <a:off x="0" y="0"/>
              <a:ext cx="3454400" cy="1295400"/>
            </a:xfrm>
            <a:prstGeom prst="rect">
              <a:avLst/>
            </a:prstGeom>
          </p:spPr>
          <p:txBody>
            <a:bodyPr anchor="ctr" rtlCol="false" tIns="50800" lIns="50800" bIns="50800" rIns="50800"/>
            <a:lstStyle/>
            <a:p>
              <a:pPr algn="ctr">
                <a:lnSpc>
                  <a:spcPts val="2879"/>
                </a:lnSpc>
              </a:pPr>
              <a:r>
                <a:rPr lang="en-US" sz="2400" b="true">
                  <a:solidFill>
                    <a:srgbClr val="142338"/>
                  </a:solidFill>
                  <a:latin typeface="Noto Sans Kr Bold"/>
                  <a:ea typeface="Noto Sans Kr Bold"/>
                  <a:cs typeface="Noto Sans Kr Bold"/>
                  <a:sym typeface="Noto Sans Kr Bold"/>
                </a:rPr>
                <a:t>거절 사유</a:t>
              </a:r>
            </a:p>
            <a:p>
              <a:pPr algn="ctr">
                <a:lnSpc>
                  <a:spcPts val="2879"/>
                </a:lnSpc>
              </a:pPr>
              <a:r>
                <a:rPr lang="en-US" sz="2400" b="true">
                  <a:solidFill>
                    <a:srgbClr val="142338"/>
                  </a:solidFill>
                  <a:latin typeface="Noto Sans Kr Bold"/>
                  <a:ea typeface="Noto Sans Kr Bold"/>
                  <a:cs typeface="Noto Sans Kr Bold"/>
                  <a:sym typeface="Noto Sans Kr Bold"/>
                </a:rPr>
                <a:t>생성 0토큰</a:t>
              </a:r>
            </a:p>
          </p:txBody>
        </p:sp>
      </p:grpSp>
      <p:grpSp>
        <p:nvGrpSpPr>
          <p:cNvPr name="Group 30" id="30"/>
          <p:cNvGrpSpPr/>
          <p:nvPr/>
        </p:nvGrpSpPr>
        <p:grpSpPr>
          <a:xfrm rot="0">
            <a:off x="14106525" y="6200775"/>
            <a:ext cx="3276600" cy="1295400"/>
            <a:chOff x="0" y="0"/>
            <a:chExt cx="4368800" cy="1727200"/>
          </a:xfrm>
        </p:grpSpPr>
        <p:sp>
          <p:nvSpPr>
            <p:cNvPr name="Freeform 31" id="31"/>
            <p:cNvSpPr/>
            <p:nvPr/>
          </p:nvSpPr>
          <p:spPr>
            <a:xfrm flipH="false" flipV="false" rot="0">
              <a:off x="0" y="0"/>
              <a:ext cx="4368800" cy="1727200"/>
            </a:xfrm>
            <a:custGeom>
              <a:avLst/>
              <a:gdLst/>
              <a:ahLst/>
              <a:cxnLst/>
              <a:rect r="r" b="b" t="t" l="l"/>
              <a:pathLst>
                <a:path h="1727200" w="4368800">
                  <a:moveTo>
                    <a:pt x="0" y="0"/>
                  </a:moveTo>
                  <a:lnTo>
                    <a:pt x="4368800" y="0"/>
                  </a:lnTo>
                  <a:lnTo>
                    <a:pt x="4368800" y="1727200"/>
                  </a:lnTo>
                  <a:lnTo>
                    <a:pt x="0" y="1727200"/>
                  </a:lnTo>
                  <a:close/>
                </a:path>
              </a:pathLst>
            </a:custGeom>
            <a:solidFill>
              <a:srgbClr val="E9EFFB"/>
            </a:solidFill>
            <a:ln w="19050" cap="sq">
              <a:solidFill>
                <a:srgbClr val="2864DC"/>
              </a:solidFill>
              <a:prstDash val="solid"/>
              <a:miter/>
            </a:ln>
          </p:spPr>
        </p:sp>
        <p:sp>
          <p:nvSpPr>
            <p:cNvPr name="TextBox 32" id="32"/>
            <p:cNvSpPr txBox="true"/>
            <p:nvPr/>
          </p:nvSpPr>
          <p:spPr>
            <a:xfrm>
              <a:off x="0" y="0"/>
              <a:ext cx="4368800" cy="1727200"/>
            </a:xfrm>
            <a:prstGeom prst="rect">
              <a:avLst/>
            </a:prstGeom>
          </p:spPr>
          <p:txBody>
            <a:bodyPr anchor="ctr" rtlCol="false" tIns="50800" lIns="50800" bIns="50800" rIns="50800"/>
            <a:lstStyle/>
            <a:p>
              <a:pPr algn="ctr">
                <a:lnSpc>
                  <a:spcPts val="2879"/>
                </a:lnSpc>
              </a:pPr>
              <a:r>
                <a:rPr lang="en-US" sz="2400" b="true">
                  <a:solidFill>
                    <a:srgbClr val="142338"/>
                  </a:solidFill>
                  <a:latin typeface="Noto Sans Kr Bold"/>
                  <a:ea typeface="Noto Sans Kr Bold"/>
                  <a:cs typeface="Noto Sans Kr Bold"/>
                  <a:sym typeface="Noto Sans Kr Bold"/>
                </a:rPr>
                <a:t>계획 · 관측 · 판정</a:t>
              </a:r>
            </a:p>
            <a:p>
              <a:pPr algn="ctr">
                <a:lnSpc>
                  <a:spcPts val="2879"/>
                </a:lnSpc>
              </a:pPr>
              <a:r>
                <a:rPr lang="en-US" sz="2400" b="true">
                  <a:solidFill>
                    <a:srgbClr val="142338"/>
                  </a:solidFill>
                  <a:latin typeface="Noto Sans Kr Bold"/>
                  <a:ea typeface="Noto Sans Kr Bold"/>
                  <a:cs typeface="Noto Sans Kr Bold"/>
                  <a:sym typeface="Noto Sans Kr Bold"/>
                </a:rPr>
                <a:t>추가 조사 최대 4회</a:t>
              </a:r>
            </a:p>
          </p:txBody>
        </p:sp>
      </p:grpSp>
      <p:grpSp>
        <p:nvGrpSpPr>
          <p:cNvPr name="Group 33" id="33"/>
          <p:cNvGrpSpPr/>
          <p:nvPr/>
        </p:nvGrpSpPr>
        <p:grpSpPr>
          <a:xfrm rot="0">
            <a:off x="8410575" y="6200775"/>
            <a:ext cx="4362450" cy="1295400"/>
            <a:chOff x="0" y="0"/>
            <a:chExt cx="5816600" cy="1727200"/>
          </a:xfrm>
        </p:grpSpPr>
        <p:sp>
          <p:nvSpPr>
            <p:cNvPr name="Freeform 34" id="34"/>
            <p:cNvSpPr/>
            <p:nvPr/>
          </p:nvSpPr>
          <p:spPr>
            <a:xfrm flipH="false" flipV="false" rot="0">
              <a:off x="0" y="0"/>
              <a:ext cx="5816600" cy="1727200"/>
            </a:xfrm>
            <a:custGeom>
              <a:avLst/>
              <a:gdLst/>
              <a:ahLst/>
              <a:cxnLst/>
              <a:rect r="r" b="b" t="t" l="l"/>
              <a:pathLst>
                <a:path h="1727200" w="5816600">
                  <a:moveTo>
                    <a:pt x="0" y="0"/>
                  </a:moveTo>
                  <a:lnTo>
                    <a:pt x="5816600" y="0"/>
                  </a:lnTo>
                  <a:lnTo>
                    <a:pt x="5816600" y="1727200"/>
                  </a:lnTo>
                  <a:lnTo>
                    <a:pt x="0" y="1727200"/>
                  </a:lnTo>
                  <a:close/>
                </a:path>
              </a:pathLst>
            </a:custGeom>
            <a:solidFill>
              <a:srgbClr val="E9EFFB"/>
            </a:solidFill>
            <a:ln w="19050" cap="sq">
              <a:solidFill>
                <a:srgbClr val="2864DC"/>
              </a:solidFill>
              <a:prstDash val="solid"/>
              <a:miter/>
            </a:ln>
          </p:spPr>
        </p:sp>
        <p:sp>
          <p:nvSpPr>
            <p:cNvPr name="TextBox 35" id="35"/>
            <p:cNvSpPr txBox="true"/>
            <p:nvPr/>
          </p:nvSpPr>
          <p:spPr>
            <a:xfrm>
              <a:off x="0" y="0"/>
              <a:ext cx="5816600" cy="1727200"/>
            </a:xfrm>
            <a:prstGeom prst="rect">
              <a:avLst/>
            </a:prstGeom>
          </p:spPr>
          <p:txBody>
            <a:bodyPr anchor="ctr" rtlCol="false" tIns="50800" lIns="50800" bIns="50800" rIns="50800"/>
            <a:lstStyle/>
            <a:p>
              <a:pPr algn="ctr">
                <a:lnSpc>
                  <a:spcPts val="3240"/>
                </a:lnSpc>
              </a:pPr>
              <a:r>
                <a:rPr lang="en-US" sz="2700" b="true">
                  <a:solidFill>
                    <a:srgbClr val="142338"/>
                  </a:solidFill>
                  <a:latin typeface="Noto Sans Kr Bold"/>
                  <a:ea typeface="Noto Sans Kr Bold"/>
                  <a:cs typeface="Noto Sans Kr Bold"/>
                  <a:sym typeface="Noto Sans Kr Bold"/>
                </a:rPr>
                <a:t>작성 · 사실 검증</a:t>
              </a:r>
            </a:p>
            <a:p>
              <a:pPr algn="ctr">
                <a:lnSpc>
                  <a:spcPts val="3240"/>
                </a:lnSpc>
              </a:pPr>
              <a:r>
                <a:rPr lang="en-US" sz="2700" b="true">
                  <a:solidFill>
                    <a:srgbClr val="142338"/>
                  </a:solidFill>
                  <a:latin typeface="Noto Sans Kr Bold"/>
                  <a:ea typeface="Noto Sans Kr Bold"/>
                  <a:cs typeface="Noto Sans Kr Bold"/>
                  <a:sym typeface="Noto Sans Kr Bold"/>
                </a:rPr>
                <a:t>최대 3회 후 제한 답변</a:t>
              </a:r>
            </a:p>
          </p:txBody>
        </p:sp>
      </p:grpSp>
      <p:grpSp>
        <p:nvGrpSpPr>
          <p:cNvPr name="Group 36" id="36"/>
          <p:cNvGrpSpPr/>
          <p:nvPr/>
        </p:nvGrpSpPr>
        <p:grpSpPr>
          <a:xfrm rot="0">
            <a:off x="904875" y="6200775"/>
            <a:ext cx="6172200" cy="1295400"/>
            <a:chOff x="0" y="0"/>
            <a:chExt cx="8229600" cy="1727200"/>
          </a:xfrm>
        </p:grpSpPr>
        <p:sp>
          <p:nvSpPr>
            <p:cNvPr name="Freeform 37" id="37"/>
            <p:cNvSpPr/>
            <p:nvPr/>
          </p:nvSpPr>
          <p:spPr>
            <a:xfrm flipH="false" flipV="false" rot="0">
              <a:off x="0" y="0"/>
              <a:ext cx="8229600" cy="1727200"/>
            </a:xfrm>
            <a:custGeom>
              <a:avLst/>
              <a:gdLst/>
              <a:ahLst/>
              <a:cxnLst/>
              <a:rect r="r" b="b" t="t" l="l"/>
              <a:pathLst>
                <a:path h="1727200" w="8229600">
                  <a:moveTo>
                    <a:pt x="0" y="0"/>
                  </a:moveTo>
                  <a:lnTo>
                    <a:pt x="8229600" y="0"/>
                  </a:lnTo>
                  <a:lnTo>
                    <a:pt x="8229600" y="1727200"/>
                  </a:lnTo>
                  <a:lnTo>
                    <a:pt x="0" y="1727200"/>
                  </a:lnTo>
                  <a:close/>
                </a:path>
              </a:pathLst>
            </a:custGeom>
            <a:solidFill>
              <a:srgbClr val="E9EFFB"/>
            </a:solidFill>
            <a:ln w="19050" cap="sq">
              <a:solidFill>
                <a:srgbClr val="2864DC"/>
              </a:solidFill>
              <a:prstDash val="solid"/>
              <a:miter/>
            </a:ln>
          </p:spPr>
        </p:sp>
        <p:sp>
          <p:nvSpPr>
            <p:cNvPr name="TextBox 38" id="38"/>
            <p:cNvSpPr txBox="true"/>
            <p:nvPr/>
          </p:nvSpPr>
          <p:spPr>
            <a:xfrm>
              <a:off x="0" y="0"/>
              <a:ext cx="8229600" cy="1727200"/>
            </a:xfrm>
            <a:prstGeom prst="rect">
              <a:avLst/>
            </a:prstGeom>
          </p:spPr>
          <p:txBody>
            <a:bodyPr anchor="ctr" rtlCol="false" tIns="50800" lIns="50800" bIns="50800" rIns="50800"/>
            <a:lstStyle/>
            <a:p>
              <a:pPr algn="ctr">
                <a:lnSpc>
                  <a:spcPts val="3419"/>
                </a:lnSpc>
              </a:pPr>
              <a:r>
                <a:rPr lang="en-US" sz="2850" b="true">
                  <a:solidFill>
                    <a:srgbClr val="142338"/>
                  </a:solidFill>
                  <a:latin typeface="Noto Sans Kr Bold"/>
                  <a:ea typeface="Noto Sans Kr Bold"/>
                  <a:cs typeface="Noto Sans Kr Bold"/>
                  <a:sym typeface="Noto Sans Kr Bold"/>
                </a:rPr>
                <a:t>결과 화면</a:t>
              </a:r>
            </a:p>
            <a:p>
              <a:pPr algn="ctr">
                <a:lnSpc>
                  <a:spcPts val="3419"/>
                </a:lnSpc>
              </a:pPr>
              <a:r>
                <a:rPr lang="en-US" sz="2850" b="true">
                  <a:solidFill>
                    <a:srgbClr val="142338"/>
                  </a:solidFill>
                  <a:latin typeface="Noto Sans Kr Bold"/>
                  <a:ea typeface="Noto Sans Kr Bold"/>
                  <a:cs typeface="Noto Sans Kr Bold"/>
                  <a:sym typeface="Noto Sans Kr Bold"/>
                </a:rPr>
                <a:t>SQLite 기록·맥락 복원</a:t>
              </a:r>
            </a:p>
          </p:txBody>
        </p:sp>
      </p:grpSp>
      <p:sp>
        <p:nvSpPr>
          <p:cNvPr name="AutoShape 39" id="39"/>
          <p:cNvSpPr/>
          <p:nvPr/>
        </p:nvSpPr>
        <p:spPr>
          <a:xfrm rot="5262540">
            <a:off x="14406277" y="7820025"/>
            <a:ext cx="714946" cy="0"/>
          </a:xfrm>
          <a:prstGeom prst="line">
            <a:avLst/>
          </a:prstGeom>
          <a:ln cap="rnd" w="19050">
            <a:solidFill>
              <a:srgbClr val="2864DC"/>
            </a:solidFill>
            <a:prstDash val="solid"/>
            <a:headEnd type="none" len="sm" w="sm"/>
            <a:tailEnd type="none" len="sm" w="sm"/>
          </a:ln>
        </p:spPr>
      </p:sp>
      <p:sp>
        <p:nvSpPr>
          <p:cNvPr name="AutoShape 40" id="40"/>
          <p:cNvSpPr/>
          <p:nvPr/>
        </p:nvSpPr>
        <p:spPr>
          <a:xfrm rot="46260">
            <a:off x="14749367" y="8162925"/>
            <a:ext cx="2124266" cy="0"/>
          </a:xfrm>
          <a:prstGeom prst="line">
            <a:avLst/>
          </a:prstGeom>
          <a:ln cap="rnd" w="19050">
            <a:solidFill>
              <a:srgbClr val="2864DC"/>
            </a:solidFill>
            <a:prstDash val="solid"/>
            <a:headEnd type="none" len="sm" w="sm"/>
            <a:tailEnd type="none" len="sm" w="sm"/>
          </a:ln>
        </p:spPr>
      </p:sp>
      <p:sp>
        <p:nvSpPr>
          <p:cNvPr name="AutoShape 41" id="41"/>
          <p:cNvSpPr/>
          <p:nvPr/>
        </p:nvSpPr>
        <p:spPr>
          <a:xfrm rot="5262540">
            <a:off x="16501777" y="7820025"/>
            <a:ext cx="714946" cy="0"/>
          </a:xfrm>
          <a:prstGeom prst="line">
            <a:avLst/>
          </a:prstGeom>
          <a:ln cap="rnd" w="19050">
            <a:solidFill>
              <a:srgbClr val="2864DC"/>
            </a:solidFill>
            <a:prstDash val="solid"/>
            <a:headEnd type="triangle" len="med" w="lg"/>
            <a:tailEnd type="none" len="sm" w="sm"/>
          </a:ln>
        </p:spPr>
      </p:sp>
      <p:sp>
        <p:nvSpPr>
          <p:cNvPr name="TextBox 42" id="42"/>
          <p:cNvSpPr txBox="true"/>
          <p:nvPr/>
        </p:nvSpPr>
        <p:spPr>
          <a:xfrm rot="0">
            <a:off x="13239750" y="8372475"/>
            <a:ext cx="4095750" cy="4953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미완료이면 재계획</a:t>
            </a:r>
          </a:p>
        </p:txBody>
      </p:sp>
      <p:sp>
        <p:nvSpPr>
          <p:cNvPr name="TextBox 43" id="43"/>
          <p:cNvSpPr txBox="true"/>
          <p:nvPr/>
        </p:nvSpPr>
        <p:spPr>
          <a:xfrm rot="0">
            <a:off x="914400" y="8429625"/>
            <a:ext cx="2428875" cy="4953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별도 품질 평가</a:t>
            </a:r>
          </a:p>
        </p:txBody>
      </p:sp>
      <p:sp>
        <p:nvSpPr>
          <p:cNvPr name="TextBox 44" id="44"/>
          <p:cNvSpPr txBox="true"/>
          <p:nvPr/>
        </p:nvSpPr>
        <p:spPr>
          <a:xfrm rot="0">
            <a:off x="3486150" y="8429625"/>
            <a:ext cx="8667750" cy="49530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LLM-as-a-Judge와 LangSmith 원격 기록</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3) 적용 기술 요소</a:t>
            </a:r>
          </a:p>
        </p:txBody>
      </p:sp>
      <p:sp>
        <p:nvSpPr>
          <p:cNvPr name="TextBox 3" id="3"/>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적용 기술과 역할 분리</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실제 모델 연결과 합성 관측을 구분 / 외부 Vector DB 제품 대신 소규모 자체 인덱스</a:t>
            </a:r>
          </a:p>
        </p:txBody>
      </p:sp>
      <p:sp>
        <p:nvSpPr>
          <p:cNvPr name="TextBox 6" id="6"/>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05</a:t>
            </a:r>
          </a:p>
        </p:txBody>
      </p:sp>
      <p:graphicFrame>
        <p:nvGraphicFramePr>
          <p:cNvPr name="Table 7" id="7"/>
          <p:cNvGraphicFramePr>
            <a:graphicFrameLocks noGrp="true"/>
          </p:cNvGraphicFramePr>
          <p:nvPr/>
        </p:nvGraphicFramePr>
        <p:xfrm>
          <a:off x="914400" y="2609850"/>
          <a:ext cx="16446500" cy="6731000"/>
        </p:xfrm>
        <a:graphic>
          <a:graphicData uri="http://schemas.openxmlformats.org/drawingml/2006/table">
            <a:tbl>
              <a:tblPr/>
              <a:tblGrid>
                <a:gridCol w="4869873"/>
                <a:gridCol w="11576627"/>
              </a:tblGrid>
              <a:tr h="831450">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기술 요소</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프로젝트 적용 내용</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r>
              <a:tr h="1228489">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Multi-Agent &amp; LangGraph</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Supervisor와 지표·로그·런북 전문 서브그래프</a:t>
                      </a:r>
                      <a:endParaRPr lang="en-US" sz="1100"/>
                    </a:p>
                    <a:p>
                      <a:pPr algn="l">
                        <a:lnSpc>
                          <a:spcPts val="3240"/>
                        </a:lnSpc>
                      </a:pPr>
                      <a:r>
                        <a:rPr lang="en-US" sz="2700">
                          <a:solidFill>
                            <a:srgbClr val="142338"/>
                          </a:solidFill>
                          <a:latin typeface="Noto Sans Kr"/>
                          <a:ea typeface="Noto Sans Kr"/>
                          <a:cs typeface="Noto Sans Kr"/>
                          <a:sym typeface="Noto Sans Kr"/>
                        </a:rPr>
                        <a:t>관측과 남은 질문에 따른 제한된 동적 재계획</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985594">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MCP</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읽기 전용 Tool / 런북 원문 Resource / 공통 절차 Prompt</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228489">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RAG</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FastEmbed 임베딩 + SQLite 벡터 저장 + NumPy 유사도</a:t>
                      </a:r>
                      <a:endParaRPr lang="en-US" sz="1100"/>
                    </a:p>
                    <a:p>
                      <a:pPr algn="l">
                        <a:lnSpc>
                          <a:spcPts val="3240"/>
                        </a:lnSpc>
                      </a:pPr>
                      <a:r>
                        <a:rPr lang="en-US" sz="2700">
                          <a:solidFill>
                            <a:srgbClr val="142338"/>
                          </a:solidFill>
                          <a:latin typeface="Noto Sans Kr"/>
                          <a:ea typeface="Noto Sans Kr"/>
                          <a:cs typeface="Noto Sans Kr"/>
                          <a:sym typeface="Noto Sans Kr"/>
                        </a:rPr>
                        <a:t>매뉴얼 6종, 최대 3개 검색 후 원문 대조·근거 주입</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228489">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아키텍처·코드 품질</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조회·검색·판정·작성 모듈 분리와 의존성 주입</a:t>
                      </a:r>
                      <a:endParaRPr lang="en-US" sz="1100"/>
                    </a:p>
                    <a:p>
                      <a:pPr algn="l">
                        <a:lnSpc>
                          <a:spcPts val="3240"/>
                        </a:lnSpc>
                      </a:pPr>
                      <a:r>
                        <a:rPr lang="en-US" sz="2700">
                          <a:solidFill>
                            <a:srgbClr val="142338"/>
                          </a:solidFill>
                          <a:latin typeface="Noto Sans Kr"/>
                          <a:ea typeface="Noto Sans Kr"/>
                          <a:cs typeface="Noto Sans Kr"/>
                          <a:sym typeface="Noto Sans Kr"/>
                        </a:rPr>
                        <a:t>Pydantic 계약, 단위·API 테스트, LCEL 작성 흐름</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228489">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기타 기술</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OpenAI·Ollama 비동기 연결 / FastAPI·SSE</a:t>
                      </a:r>
                      <a:endParaRPr lang="en-US" sz="1100"/>
                    </a:p>
                    <a:p>
                      <a:pPr algn="l">
                        <a:lnSpc>
                          <a:spcPts val="3240"/>
                        </a:lnSpc>
                      </a:pPr>
                      <a:r>
                        <a:rPr lang="en-US" sz="2700">
                          <a:solidFill>
                            <a:srgbClr val="142338"/>
                          </a:solidFill>
                          <a:latin typeface="Noto Sans Kr"/>
                          <a:ea typeface="Noto Sans Kr"/>
                          <a:cs typeface="Noto Sans Kr"/>
                          <a:sym typeface="Noto Sans Kr"/>
                        </a:rPr>
                        <a:t>Vue 3 진행 화면 / SQLite 완료 기록·후속 맥락 복원</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Tree>
  </p:cSld>
  <p:clrMapOvr>
    <a:masterClrMapping/>
  </p:clrMapOvr>
</p:sld>
</file>

<file path=ppt/slides/slide6.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3) 적용 기술 요소</a:t>
            </a:r>
          </a:p>
        </p:txBody>
      </p:sp>
      <p:sp>
        <p:nvSpPr>
          <p:cNvPr name="TextBox 3" id="3"/>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검증과 관측 가능성</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실행 결과의 통과 판정과 별도 품질 평가를 분리</a:t>
            </a:r>
          </a:p>
        </p:txBody>
      </p:sp>
      <p:sp>
        <p:nvSpPr>
          <p:cNvPr name="TextBox 6" id="6"/>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06</a:t>
            </a:r>
          </a:p>
        </p:txBody>
      </p:sp>
      <p:sp>
        <p:nvSpPr>
          <p:cNvPr name="TextBox 7" id="7"/>
          <p:cNvSpPr txBox="true"/>
          <p:nvPr/>
        </p:nvSpPr>
        <p:spPr>
          <a:xfrm rot="0">
            <a:off x="914400" y="2733675"/>
            <a:ext cx="10096500" cy="609600"/>
          </a:xfrm>
          <a:prstGeom prst="rect">
            <a:avLst/>
          </a:prstGeom>
        </p:spPr>
        <p:txBody>
          <a:bodyPr anchor="t" rtlCol="false" tIns="0" lIns="0" bIns="0" rIns="0">
            <a:spAutoFit/>
          </a:bodyPr>
          <a:lstStyle/>
          <a:p>
            <a:pPr algn="l">
              <a:lnSpc>
                <a:spcPts val="4050"/>
              </a:lnSpc>
            </a:pPr>
            <a:r>
              <a:rPr lang="en-US" sz="3375" b="true">
                <a:solidFill>
                  <a:srgbClr val="2864DC"/>
                </a:solidFill>
                <a:latin typeface="Noto Sans Bold"/>
                <a:ea typeface="Noto Sans Bold"/>
                <a:cs typeface="Noto Sans Bold"/>
                <a:sym typeface="Noto Sans Bold"/>
              </a:rPr>
              <a:t>자동 검사</a:t>
            </a:r>
          </a:p>
        </p:txBody>
      </p:sp>
      <p:sp>
        <p:nvSpPr>
          <p:cNvPr name="TextBox 8" id="8"/>
          <p:cNvSpPr txBox="true"/>
          <p:nvPr/>
        </p:nvSpPr>
        <p:spPr>
          <a:xfrm rot="0">
            <a:off x="914400" y="3476625"/>
            <a:ext cx="10287000" cy="1028700"/>
          </a:xfrm>
          <a:prstGeom prst="rect">
            <a:avLst/>
          </a:prstGeom>
        </p:spPr>
        <p:txBody>
          <a:bodyPr anchor="t" rtlCol="false" tIns="0" lIns="0" bIns="0" rIns="0">
            <a:spAutoFit/>
          </a:bodyPr>
          <a:lstStyle/>
          <a:p>
            <a:pPr algn="l">
              <a:lnSpc>
                <a:spcPts val="3419"/>
              </a:lnSpc>
            </a:pPr>
            <a:r>
              <a:rPr lang="en-US" sz="2850">
                <a:solidFill>
                  <a:srgbClr val="142338"/>
                </a:solidFill>
                <a:latin typeface="Noto Sans Kr"/>
                <a:ea typeface="Noto Sans Kr"/>
                <a:cs typeface="Noto Sans Kr"/>
                <a:sym typeface="Noto Sans Kr"/>
              </a:rPr>
              <a:t>입력·API 분기·실패 처리·관측 계약</a:t>
            </a:r>
          </a:p>
          <a:p>
            <a:pPr algn="l">
              <a:lnSpc>
                <a:spcPts val="3419"/>
              </a:lnSpc>
            </a:pPr>
            <a:r>
              <a:rPr lang="en-US" sz="2850">
                <a:solidFill>
                  <a:srgbClr val="142338"/>
                </a:solidFill>
                <a:latin typeface="Noto Sans Kr"/>
                <a:ea typeface="Noto Sans Kr"/>
                <a:cs typeface="Noto Sans Kr"/>
                <a:sym typeface="Noto Sans Kr"/>
              </a:rPr>
              <a:t>결정론적 단위 테스트와 실제 모델 평가 분리</a:t>
            </a:r>
          </a:p>
        </p:txBody>
      </p:sp>
      <p:sp>
        <p:nvSpPr>
          <p:cNvPr name="AutoShape 9" id="9"/>
          <p:cNvSpPr/>
          <p:nvPr/>
        </p:nvSpPr>
        <p:spPr>
          <a:xfrm rot="6360">
            <a:off x="904865" y="4543425"/>
            <a:ext cx="10306069" cy="0"/>
          </a:xfrm>
          <a:prstGeom prst="line">
            <a:avLst/>
          </a:prstGeom>
          <a:ln cap="rnd" w="19050">
            <a:solidFill>
              <a:srgbClr val="D2DBE6"/>
            </a:solidFill>
            <a:prstDash val="solid"/>
            <a:headEnd type="none" len="sm" w="sm"/>
            <a:tailEnd type="none" len="sm" w="sm"/>
          </a:ln>
        </p:spPr>
      </p:sp>
      <p:sp>
        <p:nvSpPr>
          <p:cNvPr name="TextBox 10" id="10"/>
          <p:cNvSpPr txBox="true"/>
          <p:nvPr/>
        </p:nvSpPr>
        <p:spPr>
          <a:xfrm rot="0">
            <a:off x="914400" y="4743450"/>
            <a:ext cx="10096500" cy="609600"/>
          </a:xfrm>
          <a:prstGeom prst="rect">
            <a:avLst/>
          </a:prstGeom>
        </p:spPr>
        <p:txBody>
          <a:bodyPr anchor="t" rtlCol="false" tIns="0" lIns="0" bIns="0" rIns="0">
            <a:spAutoFit/>
          </a:bodyPr>
          <a:lstStyle/>
          <a:p>
            <a:pPr algn="l">
              <a:lnSpc>
                <a:spcPts val="4050"/>
              </a:lnSpc>
            </a:pPr>
            <a:r>
              <a:rPr lang="en-US" sz="3375" b="true">
                <a:solidFill>
                  <a:srgbClr val="2864DC"/>
                </a:solidFill>
                <a:latin typeface="Noto Sans Bold"/>
                <a:ea typeface="Noto Sans Bold"/>
                <a:cs typeface="Noto Sans Bold"/>
                <a:sym typeface="Noto Sans Bold"/>
              </a:rPr>
              <a:t>답변 사실 검증</a:t>
            </a:r>
          </a:p>
        </p:txBody>
      </p:sp>
      <p:sp>
        <p:nvSpPr>
          <p:cNvPr name="TextBox 11" id="11"/>
          <p:cNvSpPr txBox="true"/>
          <p:nvPr/>
        </p:nvSpPr>
        <p:spPr>
          <a:xfrm rot="0">
            <a:off x="914400" y="5486400"/>
            <a:ext cx="10287000" cy="1028700"/>
          </a:xfrm>
          <a:prstGeom prst="rect">
            <a:avLst/>
          </a:prstGeom>
        </p:spPr>
        <p:txBody>
          <a:bodyPr anchor="t" rtlCol="false" tIns="0" lIns="0" bIns="0" rIns="0">
            <a:spAutoFit/>
          </a:bodyPr>
          <a:lstStyle/>
          <a:p>
            <a:pPr algn="l">
              <a:lnSpc>
                <a:spcPts val="3419"/>
              </a:lnSpc>
            </a:pPr>
            <a:r>
              <a:rPr lang="en-US" sz="2850">
                <a:solidFill>
                  <a:srgbClr val="142338"/>
                </a:solidFill>
                <a:latin typeface="Noto Sans Kr"/>
                <a:ea typeface="Noto Sans Kr"/>
                <a:cs typeface="Noto Sans Kr"/>
                <a:sym typeface="Noto Sans Kr"/>
              </a:rPr>
              <a:t>대상·수치·출처·허용 조치를 검사</a:t>
            </a:r>
          </a:p>
          <a:p>
            <a:pPr algn="l">
              <a:lnSpc>
                <a:spcPts val="3419"/>
              </a:lnSpc>
            </a:pPr>
            <a:r>
              <a:rPr lang="en-US" sz="2850">
                <a:solidFill>
                  <a:srgbClr val="142338"/>
                </a:solidFill>
                <a:latin typeface="Noto Sans Kr"/>
                <a:ea typeface="Noto Sans Kr"/>
                <a:cs typeface="Noto Sans Kr"/>
                <a:sym typeface="Noto Sans Kr"/>
              </a:rPr>
              <a:t>작성 최대 3회, 반복 실패 시 관측 사실만 제공</a:t>
            </a:r>
          </a:p>
        </p:txBody>
      </p:sp>
      <p:sp>
        <p:nvSpPr>
          <p:cNvPr name="AutoShape 12" id="12"/>
          <p:cNvSpPr/>
          <p:nvPr/>
        </p:nvSpPr>
        <p:spPr>
          <a:xfrm rot="6360">
            <a:off x="904865" y="6553200"/>
            <a:ext cx="10306069" cy="0"/>
          </a:xfrm>
          <a:prstGeom prst="line">
            <a:avLst/>
          </a:prstGeom>
          <a:ln cap="rnd" w="19050">
            <a:solidFill>
              <a:srgbClr val="D2DBE6"/>
            </a:solidFill>
            <a:prstDash val="solid"/>
            <a:headEnd type="none" len="sm" w="sm"/>
            <a:tailEnd type="none" len="sm" w="sm"/>
          </a:ln>
        </p:spPr>
      </p:sp>
      <p:sp>
        <p:nvSpPr>
          <p:cNvPr name="TextBox 13" id="13"/>
          <p:cNvSpPr txBox="true"/>
          <p:nvPr/>
        </p:nvSpPr>
        <p:spPr>
          <a:xfrm rot="0">
            <a:off x="914400" y="6753225"/>
            <a:ext cx="10096500" cy="609600"/>
          </a:xfrm>
          <a:prstGeom prst="rect">
            <a:avLst/>
          </a:prstGeom>
        </p:spPr>
        <p:txBody>
          <a:bodyPr anchor="t" rtlCol="false" tIns="0" lIns="0" bIns="0" rIns="0">
            <a:spAutoFit/>
          </a:bodyPr>
          <a:lstStyle/>
          <a:p>
            <a:pPr algn="l">
              <a:lnSpc>
                <a:spcPts val="4050"/>
              </a:lnSpc>
            </a:pPr>
            <a:r>
              <a:rPr lang="en-US" sz="3375" b="true">
                <a:solidFill>
                  <a:srgbClr val="2864DC"/>
                </a:solidFill>
                <a:latin typeface="Noto Sans Bold"/>
                <a:ea typeface="Noto Sans Bold"/>
                <a:cs typeface="Noto Sans Bold"/>
                <a:sym typeface="Noto Sans Bold"/>
              </a:rPr>
              <a:t>별도 LLM-as-a-Judge</a:t>
            </a:r>
          </a:p>
        </p:txBody>
      </p:sp>
      <p:sp>
        <p:nvSpPr>
          <p:cNvPr name="TextBox 14" id="14"/>
          <p:cNvSpPr txBox="true"/>
          <p:nvPr/>
        </p:nvSpPr>
        <p:spPr>
          <a:xfrm rot="0">
            <a:off x="914400" y="7496175"/>
            <a:ext cx="10287000" cy="1028700"/>
          </a:xfrm>
          <a:prstGeom prst="rect">
            <a:avLst/>
          </a:prstGeom>
        </p:spPr>
        <p:txBody>
          <a:bodyPr anchor="t" rtlCol="false" tIns="0" lIns="0" bIns="0" rIns="0">
            <a:spAutoFit/>
          </a:bodyPr>
          <a:lstStyle/>
          <a:p>
            <a:pPr algn="l">
              <a:lnSpc>
                <a:spcPts val="3419"/>
              </a:lnSpc>
            </a:pPr>
            <a:r>
              <a:rPr lang="en-US" sz="2850">
                <a:solidFill>
                  <a:srgbClr val="142338"/>
                </a:solidFill>
                <a:latin typeface="Noto Sans Kr"/>
                <a:ea typeface="Noto Sans Kr"/>
                <a:cs typeface="Noto Sans Kr"/>
                <a:sym typeface="Noto Sans Kr"/>
              </a:rPr>
              <a:t>근거 충실성·수치 정확성·조치 조건</a:t>
            </a:r>
          </a:p>
          <a:p>
            <a:pPr algn="l">
              <a:lnSpc>
                <a:spcPts val="3419"/>
              </a:lnSpc>
            </a:pPr>
            <a:r>
              <a:rPr lang="en-US" sz="2850">
                <a:solidFill>
                  <a:srgbClr val="142338"/>
                </a:solidFill>
                <a:latin typeface="Noto Sans Kr"/>
                <a:ea typeface="Noto Sans Kr"/>
                <a:cs typeface="Noto Sans Kr"/>
                <a:sym typeface="Noto Sans Kr"/>
              </a:rPr>
              <a:t>요청 충족·다음 행동 평가, 원래 점수 보존</a:t>
            </a:r>
          </a:p>
        </p:txBody>
      </p:sp>
      <p:sp>
        <p:nvSpPr>
          <p:cNvPr name="TextBox 15" id="15"/>
          <p:cNvSpPr txBox="true"/>
          <p:nvPr/>
        </p:nvSpPr>
        <p:spPr>
          <a:xfrm rot="0">
            <a:off x="12287250" y="2733675"/>
            <a:ext cx="5086350" cy="647700"/>
          </a:xfrm>
          <a:prstGeom prst="rect">
            <a:avLst/>
          </a:prstGeom>
        </p:spPr>
        <p:txBody>
          <a:bodyPr anchor="t" rtlCol="false" tIns="0" lIns="0" bIns="0" rIns="0">
            <a:spAutoFit/>
          </a:bodyPr>
          <a:lstStyle/>
          <a:p>
            <a:pPr algn="l">
              <a:lnSpc>
                <a:spcPts val="3869"/>
              </a:lnSpc>
            </a:pPr>
            <a:r>
              <a:rPr lang="en-US" sz="3225" b="true">
                <a:solidFill>
                  <a:srgbClr val="2864DC"/>
                </a:solidFill>
                <a:latin typeface="Noto Sans Bold"/>
                <a:ea typeface="Noto Sans Bold"/>
                <a:cs typeface="Noto Sans Bold"/>
                <a:sym typeface="Noto Sans Bold"/>
              </a:rPr>
              <a:t>LangSmith 트레이싱</a:t>
            </a:r>
          </a:p>
        </p:txBody>
      </p:sp>
      <p:sp>
        <p:nvSpPr>
          <p:cNvPr name="TextBox 16" id="16"/>
          <p:cNvSpPr txBox="true"/>
          <p:nvPr/>
        </p:nvSpPr>
        <p:spPr>
          <a:xfrm rot="0">
            <a:off x="12287250" y="3724275"/>
            <a:ext cx="5086350" cy="1952625"/>
          </a:xfrm>
          <a:prstGeom prst="rect">
            <a:avLst/>
          </a:prstGeom>
        </p:spPr>
        <p:txBody>
          <a:bodyPr anchor="t" rtlCol="false" tIns="0" lIns="0" bIns="0" rIns="0">
            <a:spAutoFit/>
          </a:bodyPr>
          <a:lstStyle/>
          <a:p>
            <a:pPr algn="l">
              <a:lnSpc>
                <a:spcPts val="3510"/>
              </a:lnSpc>
            </a:pPr>
            <a:r>
              <a:rPr lang="en-US" sz="2925">
                <a:solidFill>
                  <a:srgbClr val="142338"/>
                </a:solidFill>
                <a:latin typeface="Noto Sans Kr"/>
                <a:ea typeface="Noto Sans Kr"/>
                <a:cs typeface="Noto Sans Kr"/>
                <a:sym typeface="Noto Sans Kr"/>
              </a:rPr>
              <a:t>실행 단계와 도구 호출</a:t>
            </a:r>
          </a:p>
          <a:p>
            <a:pPr algn="l">
              <a:lnSpc>
                <a:spcPts val="3510"/>
              </a:lnSpc>
            </a:pPr>
            <a:r>
              <a:rPr lang="en-US" sz="2925">
                <a:solidFill>
                  <a:srgbClr val="142338"/>
                </a:solidFill>
                <a:latin typeface="Noto Sans Kr"/>
                <a:ea typeface="Noto Sans Kr"/>
                <a:cs typeface="Noto Sans Kr"/>
                <a:sym typeface="Noto Sans Kr"/>
              </a:rPr>
              <a:t>모델 입력·출력 토큰</a:t>
            </a:r>
          </a:p>
          <a:p>
            <a:pPr algn="l">
              <a:lnSpc>
                <a:spcPts val="3510"/>
              </a:lnSpc>
            </a:pPr>
            <a:r>
              <a:rPr lang="en-US" sz="2925">
                <a:solidFill>
                  <a:srgbClr val="142338"/>
                </a:solidFill>
                <a:latin typeface="Noto Sans Kr"/>
                <a:ea typeface="Noto Sans Kr"/>
                <a:cs typeface="Noto Sans Kr"/>
                <a:sym typeface="Noto Sans Kr"/>
              </a:rPr>
              <a:t>Judge 평가 점수</a:t>
            </a:r>
          </a:p>
        </p:txBody>
      </p:sp>
      <p:sp>
        <p:nvSpPr>
          <p:cNvPr name="AutoShape 17" id="17"/>
          <p:cNvSpPr/>
          <p:nvPr/>
        </p:nvSpPr>
        <p:spPr>
          <a:xfrm rot="12840">
            <a:off x="12277706" y="6096000"/>
            <a:ext cx="5105438" cy="0"/>
          </a:xfrm>
          <a:prstGeom prst="line">
            <a:avLst/>
          </a:prstGeom>
          <a:ln cap="rnd" w="19050">
            <a:solidFill>
              <a:srgbClr val="D2DBE6"/>
            </a:solidFill>
            <a:prstDash val="solid"/>
            <a:headEnd type="none" len="sm" w="sm"/>
            <a:tailEnd type="none" len="sm" w="sm"/>
          </a:ln>
        </p:spPr>
      </p:sp>
      <p:sp>
        <p:nvSpPr>
          <p:cNvPr name="TextBox 18" id="18"/>
          <p:cNvSpPr txBox="true"/>
          <p:nvPr/>
        </p:nvSpPr>
        <p:spPr>
          <a:xfrm rot="0">
            <a:off x="12287250" y="6562725"/>
            <a:ext cx="5086350" cy="666750"/>
          </a:xfrm>
          <a:prstGeom prst="rect">
            <a:avLst/>
          </a:prstGeom>
        </p:spPr>
        <p:txBody>
          <a:bodyPr anchor="t" rtlCol="false" tIns="0" lIns="0" bIns="0" rIns="0">
            <a:spAutoFit/>
          </a:bodyPr>
          <a:lstStyle/>
          <a:p>
            <a:pPr algn="l">
              <a:lnSpc>
                <a:spcPts val="3960"/>
              </a:lnSpc>
            </a:pPr>
            <a:r>
              <a:rPr lang="en-US" sz="3300" b="true">
                <a:solidFill>
                  <a:srgbClr val="142338"/>
                </a:solidFill>
                <a:latin typeface="Noto Sans Bold"/>
                <a:ea typeface="Noto Sans Bold"/>
                <a:cs typeface="Noto Sans Bold"/>
                <a:sym typeface="Noto Sans Bold"/>
              </a:rPr>
              <a:t>원격 저장 후 재조회</a:t>
            </a:r>
          </a:p>
        </p:txBody>
      </p:sp>
      <p:sp>
        <p:nvSpPr>
          <p:cNvPr name="TextBox 19" id="19"/>
          <p:cNvSpPr txBox="true"/>
          <p:nvPr/>
        </p:nvSpPr>
        <p:spPr>
          <a:xfrm rot="0">
            <a:off x="12287250" y="7486650"/>
            <a:ext cx="5086350" cy="1200150"/>
          </a:xfrm>
          <a:prstGeom prst="rect">
            <a:avLst/>
          </a:prstGeom>
        </p:spPr>
        <p:txBody>
          <a:bodyPr anchor="t" rtlCol="false" tIns="0" lIns="0" bIns="0" rIns="0">
            <a:spAutoFit/>
          </a:bodyPr>
          <a:lstStyle/>
          <a:p>
            <a:pPr algn="l">
              <a:lnSpc>
                <a:spcPts val="3329"/>
              </a:lnSpc>
            </a:pPr>
            <a:r>
              <a:rPr lang="en-US" sz="2775">
                <a:solidFill>
                  <a:srgbClr val="526176"/>
                </a:solidFill>
                <a:latin typeface="Noto Sans Kr"/>
                <a:ea typeface="Noto Sans Kr"/>
                <a:cs typeface="Noto Sans Kr"/>
                <a:sym typeface="Noto Sans Kr"/>
              </a:rPr>
              <a:t>호출 성공 표시와 별개로</a:t>
            </a:r>
          </a:p>
          <a:p>
            <a:pPr algn="l">
              <a:lnSpc>
                <a:spcPts val="3329"/>
              </a:lnSpc>
            </a:pPr>
            <a:r>
              <a:rPr lang="en-US" sz="2775">
                <a:solidFill>
                  <a:srgbClr val="526176"/>
                </a:solidFill>
                <a:latin typeface="Noto Sans Kr"/>
                <a:ea typeface="Noto Sans Kr"/>
                <a:cs typeface="Noto Sans Kr"/>
                <a:sym typeface="Noto Sans Kr"/>
              </a:rPr>
              <a:t>실행·점수 저장 여부 확인</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4) 구현 결과</a:t>
            </a:r>
          </a:p>
        </p:txBody>
      </p:sp>
      <p:sp>
        <p:nvSpPr>
          <p:cNvPr name="TextBox 3" id="3"/>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실행 화면과 실제 검증 결과</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2026-10-21 보존 기록 / 실제 Ollama 실행·교육용 합성 관측 / 전체 비용 절감률 미측정</a:t>
            </a:r>
          </a:p>
        </p:txBody>
      </p:sp>
      <p:sp>
        <p:nvSpPr>
          <p:cNvPr name="TextBox 6" id="6"/>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07</a:t>
            </a:r>
          </a:p>
        </p:txBody>
      </p:sp>
      <p:sp>
        <p:nvSpPr>
          <p:cNvPr name="TextBox 7" id="7"/>
          <p:cNvSpPr txBox="true"/>
          <p:nvPr/>
        </p:nvSpPr>
        <p:spPr>
          <a:xfrm rot="0">
            <a:off x="914400" y="2657475"/>
            <a:ext cx="9848850" cy="600075"/>
          </a:xfrm>
          <a:prstGeom prst="rect">
            <a:avLst/>
          </a:prstGeom>
        </p:spPr>
        <p:txBody>
          <a:bodyPr anchor="t" rtlCol="false" tIns="0" lIns="0" bIns="0" rIns="0">
            <a:spAutoFit/>
          </a:bodyPr>
          <a:lstStyle/>
          <a:p>
            <a:pPr algn="l">
              <a:lnSpc>
                <a:spcPts val="3690"/>
              </a:lnSpc>
            </a:pPr>
            <a:r>
              <a:rPr lang="en-US" sz="3075" b="true">
                <a:solidFill>
                  <a:srgbClr val="2864DC"/>
                </a:solidFill>
                <a:latin typeface="Noto Sans Bold"/>
                <a:ea typeface="Noto Sans Bold"/>
                <a:cs typeface="Noto Sans Bold"/>
                <a:sym typeface="Noto Sans Bold"/>
              </a:rPr>
              <a:t>CPU 91%에서 추가 관측으로 판단 변경</a:t>
            </a:r>
          </a:p>
        </p:txBody>
      </p:sp>
      <p:grpSp>
        <p:nvGrpSpPr>
          <p:cNvPr name="Group 8" id="8"/>
          <p:cNvGrpSpPr/>
          <p:nvPr/>
        </p:nvGrpSpPr>
        <p:grpSpPr>
          <a:xfrm rot="0">
            <a:off x="914400" y="3571875"/>
            <a:ext cx="9848850" cy="4857750"/>
            <a:chOff x="0" y="0"/>
            <a:chExt cx="13131800" cy="6477000"/>
          </a:xfrm>
        </p:grpSpPr>
        <p:sp>
          <p:nvSpPr>
            <p:cNvPr name="Freeform 9" id="9"/>
            <p:cNvSpPr/>
            <p:nvPr/>
          </p:nvSpPr>
          <p:spPr>
            <a:xfrm flipH="false" flipV="false" rot="0">
              <a:off x="0" y="0"/>
              <a:ext cx="13131800" cy="6477000"/>
            </a:xfrm>
            <a:custGeom>
              <a:avLst/>
              <a:gdLst/>
              <a:ahLst/>
              <a:cxnLst/>
              <a:rect r="r" b="b" t="t" l="l"/>
              <a:pathLst>
                <a:path h="6477000" w="13131800">
                  <a:moveTo>
                    <a:pt x="0" y="0"/>
                  </a:moveTo>
                  <a:lnTo>
                    <a:pt x="13131800" y="0"/>
                  </a:lnTo>
                  <a:lnTo>
                    <a:pt x="13131800" y="6477000"/>
                  </a:lnTo>
                  <a:lnTo>
                    <a:pt x="0" y="6477000"/>
                  </a:lnTo>
                  <a:lnTo>
                    <a:pt x="0" y="0"/>
                  </a:lnTo>
                  <a:close/>
                </a:path>
              </a:pathLst>
            </a:custGeom>
            <a:blipFill>
              <a:blip r:embed="rId3"/>
              <a:stretch>
                <a:fillRect l="-33333" t="-82031" r="-42105" b="-18045"/>
              </a:stretch>
            </a:blipFill>
          </p:spPr>
        </p:sp>
      </p:grpSp>
      <p:sp>
        <p:nvSpPr>
          <p:cNvPr name="TextBox 10" id="10"/>
          <p:cNvSpPr txBox="true"/>
          <p:nvPr/>
        </p:nvSpPr>
        <p:spPr>
          <a:xfrm rot="0">
            <a:off x="914400" y="8677275"/>
            <a:ext cx="9848850" cy="476250"/>
          </a:xfrm>
          <a:prstGeom prst="rect">
            <a:avLst/>
          </a:prstGeom>
        </p:spPr>
        <p:txBody>
          <a:bodyPr anchor="t" rtlCol="false" tIns="0" lIns="0" bIns="0" rIns="0">
            <a:spAutoFit/>
          </a:bodyPr>
          <a:lstStyle/>
          <a:p>
            <a:pPr algn="l">
              <a:lnSpc>
                <a:spcPts val="2700"/>
              </a:lnSpc>
            </a:pPr>
            <a:r>
              <a:rPr lang="en-US" sz="2250">
                <a:solidFill>
                  <a:srgbClr val="526176"/>
                </a:solidFill>
                <a:latin typeface="Noto Sans Kr"/>
                <a:ea typeface="Noto Sans Kr"/>
                <a:cs typeface="Noto Sans Kr"/>
                <a:sym typeface="Noto Sans Kr"/>
              </a:rPr>
              <a:t>배치 기여 5% 반증 / 요청 처리 88%·요청량 3.2배 지지</a:t>
            </a:r>
          </a:p>
        </p:txBody>
      </p:sp>
      <p:graphicFrame>
        <p:nvGraphicFramePr>
          <p:cNvPr name="Table 11" id="11"/>
          <p:cNvGraphicFramePr>
            <a:graphicFrameLocks noGrp="true"/>
          </p:cNvGraphicFramePr>
          <p:nvPr/>
        </p:nvGraphicFramePr>
        <p:xfrm>
          <a:off x="11239500" y="2647950"/>
          <a:ext cx="6121400" cy="5524500"/>
        </p:xfrm>
        <a:graphic>
          <a:graphicData uri="http://schemas.openxmlformats.org/drawingml/2006/table">
            <a:tbl>
              <a:tblPr/>
              <a:tblGrid>
                <a:gridCol w="3067780"/>
                <a:gridCol w="3053620"/>
              </a:tblGrid>
              <a:tr h="752708">
                <a:tc>
                  <a:txBody>
                    <a:bodyPr anchor="t" rtlCol="false"/>
                    <a:lstStyle/>
                    <a:p>
                      <a:pPr algn="l">
                        <a:lnSpc>
                          <a:spcPts val="2879"/>
                        </a:lnSpc>
                        <a:defRPr/>
                      </a:pPr>
                      <a:r>
                        <a:rPr lang="en-US" sz="2400" b="true">
                          <a:solidFill>
                            <a:srgbClr val="2864DC"/>
                          </a:solidFill>
                          <a:latin typeface="Noto Sans Bold"/>
                          <a:ea typeface="Noto Sans Bold"/>
                          <a:cs typeface="Noto Sans Bold"/>
                          <a:sym typeface="Noto Sans Bold"/>
                        </a:rPr>
                        <a:t>검증 항목</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c>
                  <a:txBody>
                    <a:bodyPr anchor="t" rtlCol="false"/>
                    <a:lstStyle/>
                    <a:p>
                      <a:pPr algn="l">
                        <a:lnSpc>
                          <a:spcPts val="2879"/>
                        </a:lnSpc>
                        <a:defRPr/>
                      </a:pPr>
                      <a:r>
                        <a:rPr lang="en-US" sz="2400" b="true">
                          <a:solidFill>
                            <a:srgbClr val="2864DC"/>
                          </a:solidFill>
                          <a:latin typeface="Noto Sans Bold"/>
                          <a:ea typeface="Noto Sans Bold"/>
                          <a:cs typeface="Noto Sans Bold"/>
                          <a:sym typeface="Noto Sans Bold"/>
                        </a:rPr>
                        <a:t>결과</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r>
              <a:tr h="1110475">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입력 거절 5건</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생성 0토큰</a:t>
                      </a:r>
                      <a:endParaRPr lang="en-US" sz="1100"/>
                    </a:p>
                    <a:p>
                      <a:pPr algn="l">
                        <a:lnSpc>
                          <a:spcPts val="2879"/>
                        </a:lnSpc>
                      </a:pPr>
                      <a:r>
                        <a:rPr lang="en-US" sz="2400">
                          <a:solidFill>
                            <a:srgbClr val="142338"/>
                          </a:solidFill>
                          <a:latin typeface="Noto Sans Kr"/>
                          <a:ea typeface="Noto Sans Kr"/>
                          <a:cs typeface="Noto Sans Kr"/>
                          <a:sym typeface="Noto Sans Kr"/>
                        </a:rPr>
                        <a:t>LLM·MCP 0회</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자동 테스트</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99개 통과</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가설 조사 기능*</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6/6</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850280">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Judge 포함 종합*</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5/6</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110475">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LangSmith 재조회*</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2879"/>
                        </a:lnSpc>
                        <a:defRPr/>
                      </a:pPr>
                      <a:r>
                        <a:rPr lang="en-US" sz="2400">
                          <a:solidFill>
                            <a:srgbClr val="142338"/>
                          </a:solidFill>
                          <a:latin typeface="Noto Sans Kr"/>
                          <a:ea typeface="Noto Sans Kr"/>
                          <a:cs typeface="Noto Sans Kr"/>
                          <a:sym typeface="Noto Sans Kr"/>
                        </a:rPr>
                        <a:t>실행 6건</a:t>
                      </a:r>
                      <a:endParaRPr lang="en-US" sz="1100"/>
                    </a:p>
                    <a:p>
                      <a:pPr algn="l">
                        <a:lnSpc>
                          <a:spcPts val="2879"/>
                        </a:lnSpc>
                      </a:pPr>
                      <a:r>
                        <a:rPr lang="en-US" sz="2400">
                          <a:solidFill>
                            <a:srgbClr val="142338"/>
                          </a:solidFill>
                          <a:latin typeface="Noto Sans Kr"/>
                          <a:ea typeface="Noto Sans Kr"/>
                          <a:cs typeface="Noto Sans Kr"/>
                          <a:sym typeface="Noto Sans Kr"/>
                        </a:rPr>
                        <a:t>평가 점수 30개</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
        <p:nvSpPr>
          <p:cNvPr name="TextBox 12" id="12"/>
          <p:cNvSpPr txBox="true"/>
          <p:nvPr/>
        </p:nvSpPr>
        <p:spPr>
          <a:xfrm rot="0">
            <a:off x="11239500" y="8610600"/>
            <a:ext cx="6134100" cy="704850"/>
          </a:xfrm>
          <a:prstGeom prst="rect">
            <a:avLst/>
          </a:prstGeom>
        </p:spPr>
        <p:txBody>
          <a:bodyPr anchor="t" rtlCol="false" tIns="0" lIns="0" bIns="0" rIns="0">
            <a:spAutoFit/>
          </a:bodyPr>
          <a:lstStyle/>
          <a:p>
            <a:pPr algn="l">
              <a:lnSpc>
                <a:spcPts val="2430"/>
              </a:lnSpc>
            </a:pPr>
            <a:r>
              <a:rPr lang="en-US" sz="2025">
                <a:solidFill>
                  <a:srgbClr val="526176"/>
                </a:solidFill>
                <a:latin typeface="Noto Sans Kr"/>
                <a:ea typeface="Noto Sans Kr"/>
                <a:cs typeface="Noto Sans Kr"/>
                <a:sym typeface="Noto Sans Kr"/>
              </a:rPr>
              <a:t>* 입력 검사 도입 전 실제 모델 평가</a:t>
            </a:r>
          </a:p>
          <a:p>
            <a:pPr algn="l">
              <a:lnSpc>
                <a:spcPts val="2430"/>
              </a:lnSpc>
            </a:pPr>
            <a:r>
              <a:rPr lang="en-US" sz="2025">
                <a:solidFill>
                  <a:srgbClr val="526176"/>
                </a:solidFill>
                <a:latin typeface="Noto Sans Kr"/>
                <a:ea typeface="Noto Sans Kr"/>
                <a:cs typeface="Noto Sans Kr"/>
                <a:sym typeface="Noto Sans Kr"/>
              </a:rPr>
              <a:t>Judge의 release 오판 기록 보존</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7F8FA"/>
        </a:solidFill>
      </p:bgPr>
    </p:bg>
    <p:spTree>
      <p:nvGrpSpPr>
        <p:cNvPr id="1" name=""/>
        <p:cNvGrpSpPr/>
        <p:nvPr/>
      </p:nvGrpSpPr>
      <p:grpSpPr>
        <a:xfrm>
          <a:off x="0" y="0"/>
          <a:ext cx="0" cy="0"/>
          <a:chOff x="0" y="0"/>
          <a:chExt cx="0" cy="0"/>
        </a:xfrm>
      </p:grpSpPr>
      <p:sp>
        <p:nvSpPr>
          <p:cNvPr name="TextBox 2" id="2"/>
          <p:cNvSpPr txBox="true"/>
          <p:nvPr/>
        </p:nvSpPr>
        <p:spPr>
          <a:xfrm rot="0">
            <a:off x="914400" y="514350"/>
            <a:ext cx="16192500" cy="457200"/>
          </a:xfrm>
          <a:prstGeom prst="rect">
            <a:avLst/>
          </a:prstGeom>
        </p:spPr>
        <p:txBody>
          <a:bodyPr anchor="t" rtlCol="false" tIns="0" lIns="0" bIns="0" rIns="0">
            <a:spAutoFit/>
          </a:bodyPr>
          <a:lstStyle/>
          <a:p>
            <a:pPr algn="l">
              <a:lnSpc>
                <a:spcPts val="2700"/>
              </a:lnSpc>
            </a:pPr>
            <a:r>
              <a:rPr lang="en-US" sz="2250" b="true">
                <a:solidFill>
                  <a:srgbClr val="2864DC"/>
                </a:solidFill>
                <a:latin typeface="Noto Sans Bold"/>
                <a:ea typeface="Noto Sans Bold"/>
                <a:cs typeface="Noto Sans Bold"/>
                <a:sym typeface="Noto Sans Bold"/>
              </a:rPr>
              <a:t>5) 교훈</a:t>
            </a:r>
          </a:p>
        </p:txBody>
      </p:sp>
      <p:sp>
        <p:nvSpPr>
          <p:cNvPr name="TextBox 3" id="3"/>
          <p:cNvSpPr txBox="true"/>
          <p:nvPr/>
        </p:nvSpPr>
        <p:spPr>
          <a:xfrm rot="0">
            <a:off x="914400" y="1314450"/>
            <a:ext cx="16459200" cy="1038225"/>
          </a:xfrm>
          <a:prstGeom prst="rect">
            <a:avLst/>
          </a:prstGeom>
        </p:spPr>
        <p:txBody>
          <a:bodyPr anchor="t" rtlCol="false" tIns="0" lIns="0" bIns="0" rIns="0">
            <a:spAutoFit/>
          </a:bodyPr>
          <a:lstStyle/>
          <a:p>
            <a:pPr algn="l">
              <a:lnSpc>
                <a:spcPts val="6839"/>
              </a:lnSpc>
            </a:pPr>
            <a:r>
              <a:rPr lang="en-US" sz="5700" b="true">
                <a:solidFill>
                  <a:srgbClr val="142338"/>
                </a:solidFill>
                <a:latin typeface="Noto Sans Bold"/>
                <a:ea typeface="Noto Sans Bold"/>
                <a:cs typeface="Noto Sans Bold"/>
                <a:sym typeface="Noto Sans Bold"/>
              </a:rPr>
              <a:t>한계와 다음 개선, 배운 점</a:t>
            </a:r>
          </a:p>
        </p:txBody>
      </p:sp>
      <p:sp>
        <p:nvSpPr>
          <p:cNvPr name="AutoShape 4" id="4"/>
          <p:cNvSpPr/>
          <p:nvPr/>
        </p:nvSpPr>
        <p:spPr>
          <a:xfrm rot="3960">
            <a:off x="904865" y="9420225"/>
            <a:ext cx="16478260" cy="0"/>
          </a:xfrm>
          <a:prstGeom prst="line">
            <a:avLst/>
          </a:prstGeom>
          <a:ln cap="rnd" w="19050">
            <a:solidFill>
              <a:srgbClr val="D2DBE6"/>
            </a:solidFill>
            <a:prstDash val="solid"/>
            <a:headEnd type="none" len="sm" w="sm"/>
            <a:tailEnd type="none" len="sm" w="sm"/>
          </a:ln>
        </p:spPr>
      </p:sp>
      <p:sp>
        <p:nvSpPr>
          <p:cNvPr name="TextBox 5" id="5"/>
          <p:cNvSpPr txBox="true"/>
          <p:nvPr/>
        </p:nvSpPr>
        <p:spPr>
          <a:xfrm rot="0">
            <a:off x="914400" y="9648825"/>
            <a:ext cx="15144750" cy="400050"/>
          </a:xfrm>
          <a:prstGeom prst="rect">
            <a:avLst/>
          </a:prstGeom>
        </p:spPr>
        <p:txBody>
          <a:bodyPr anchor="t" rtlCol="false" tIns="0" lIns="0" bIns="0" rIns="0">
            <a:spAutoFit/>
          </a:bodyPr>
          <a:lstStyle/>
          <a:p>
            <a:pPr algn="l">
              <a:lnSpc>
                <a:spcPts val="2520"/>
              </a:lnSpc>
            </a:pPr>
            <a:r>
              <a:rPr lang="en-US" sz="2100">
                <a:solidFill>
                  <a:srgbClr val="526176"/>
                </a:solidFill>
                <a:latin typeface="Noto Sans Kr"/>
                <a:ea typeface="Noto Sans Kr"/>
                <a:cs typeface="Noto Sans Kr"/>
                <a:sym typeface="Noto Sans Kr"/>
              </a:rPr>
              <a:t>SKALA 광주 2반 · G066 · 정준용</a:t>
            </a:r>
          </a:p>
        </p:txBody>
      </p:sp>
      <p:sp>
        <p:nvSpPr>
          <p:cNvPr name="TextBox 6" id="6"/>
          <p:cNvSpPr txBox="true"/>
          <p:nvPr/>
        </p:nvSpPr>
        <p:spPr>
          <a:xfrm rot="0">
            <a:off x="16611600" y="9610725"/>
            <a:ext cx="762000" cy="419100"/>
          </a:xfrm>
          <a:prstGeom prst="rect">
            <a:avLst/>
          </a:prstGeom>
        </p:spPr>
        <p:txBody>
          <a:bodyPr anchor="t" rtlCol="false" tIns="0" lIns="0" bIns="0" rIns="0">
            <a:spAutoFit/>
          </a:bodyPr>
          <a:lstStyle/>
          <a:p>
            <a:pPr algn="l">
              <a:lnSpc>
                <a:spcPts val="3060"/>
              </a:lnSpc>
            </a:pPr>
            <a:r>
              <a:rPr lang="en-US" sz="2550" b="true">
                <a:solidFill>
                  <a:srgbClr val="2864DC"/>
                </a:solidFill>
                <a:latin typeface="Noto Sans Bold"/>
                <a:ea typeface="Noto Sans Bold"/>
                <a:cs typeface="Noto Sans Bold"/>
                <a:sym typeface="Noto Sans Bold"/>
              </a:rPr>
              <a:t>08</a:t>
            </a:r>
          </a:p>
        </p:txBody>
      </p:sp>
      <p:graphicFrame>
        <p:nvGraphicFramePr>
          <p:cNvPr name="Table 7" id="7"/>
          <p:cNvGraphicFramePr>
            <a:graphicFrameLocks noGrp="true"/>
          </p:cNvGraphicFramePr>
          <p:nvPr/>
        </p:nvGraphicFramePr>
        <p:xfrm>
          <a:off x="914400" y="2657475"/>
          <a:ext cx="16459200" cy="4800600"/>
        </p:xfrm>
        <a:graphic>
          <a:graphicData uri="http://schemas.openxmlformats.org/drawingml/2006/table">
            <a:tbl>
              <a:tblPr/>
              <a:tblGrid>
                <a:gridCol w="8236725"/>
                <a:gridCol w="8222475"/>
              </a:tblGrid>
              <a:tr h="776706">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한계 및 트레이드오프</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c>
                  <a:txBody>
                    <a:bodyPr anchor="t" rtlCol="false"/>
                    <a:lstStyle/>
                    <a:p>
                      <a:pPr algn="l">
                        <a:lnSpc>
                          <a:spcPts val="3240"/>
                        </a:lnSpc>
                        <a:defRPr/>
                      </a:pPr>
                      <a:r>
                        <a:rPr lang="en-US" sz="2700" b="true">
                          <a:solidFill>
                            <a:srgbClr val="2864DC"/>
                          </a:solidFill>
                          <a:latin typeface="Noto Sans Bold"/>
                          <a:ea typeface="Noto Sans Bold"/>
                          <a:cs typeface="Noto Sans Bold"/>
                          <a:sym typeface="Noto Sans Bold"/>
                        </a:rPr>
                        <a:t>향후 추가 개선</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14288">
                      <a:solidFill>
                        <a:srgbClr val="D2DBE6"/>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E9EFFB"/>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입력 규칙의 오탐·미탐</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사람 라벨로 필터 정확도 측정</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117441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최대 4회·CPU 세 가설·합성 관측</a:t>
                      </a:r>
                      <a:endParaRPr lang="en-US" sz="1100"/>
                    </a:p>
                    <a:p>
                      <a:pPr algn="l">
                        <a:lnSpc>
                          <a:spcPts val="3240"/>
                        </a:lnSpc>
                      </a:pPr>
                      <a:r>
                        <a:rPr lang="en-US" sz="2700">
                          <a:solidFill>
                            <a:srgbClr val="142338"/>
                          </a:solidFill>
                          <a:latin typeface="Noto Sans Kr"/>
                          <a:ea typeface="Noto Sans Kr"/>
                          <a:cs typeface="Noto Sans Kr"/>
                          <a:sym typeface="Noto Sans Kr"/>
                        </a:rPr>
                        <a:t>교차 지지도 인과 확정과 구분</a:t>
                      </a:r>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실제 모니터링 연결</a:t>
                      </a:r>
                      <a:endParaRPr lang="en-US" sz="1100"/>
                    </a:p>
                    <a:p>
                      <a:pPr algn="l">
                        <a:lnSpc>
                          <a:spcPts val="3240"/>
                        </a:lnSpc>
                      </a:pPr>
                      <a:r>
                        <a:rPr lang="en-US" sz="2700">
                          <a:solidFill>
                            <a:srgbClr val="142338"/>
                          </a:solidFill>
                          <a:latin typeface="Noto Sans Kr"/>
                          <a:ea typeface="Noto Sans Kr"/>
                          <a:cs typeface="Noto Sans Kr"/>
                          <a:sym typeface="Noto Sans Kr"/>
                        </a:rPr>
                        <a:t>메모리·네트워크 조사로 확장</a:t>
                      </a:r>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Judge 오류와 같은 모델 계열의 편향</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다른 계열 Judge와 사람 평가 비교</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r h="949826">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0토큰은 차단한 요청의 생성 사용량</a:t>
                      </a:r>
                      <a:endParaRPr lang="en-US" sz="1100"/>
                    </a:p>
                  </a:txBody>
                  <a:tcPr marL="171450" marR="171450" marT="171450" marB="171450" anchor="ctr">
                    <a:lnL cmpd="sng" algn="ctr" cap="flat" w="14288">
                      <a:solidFill>
                        <a:srgbClr val="D2DBE6"/>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c>
                  <a:txBody>
                    <a:bodyPr anchor="t" rtlCol="false"/>
                    <a:lstStyle/>
                    <a:p>
                      <a:pPr algn="l">
                        <a:lnSpc>
                          <a:spcPts val="3240"/>
                        </a:lnSpc>
                        <a:defRPr/>
                      </a:pPr>
                      <a:r>
                        <a:rPr lang="en-US" sz="2700">
                          <a:solidFill>
                            <a:srgbClr val="142338"/>
                          </a:solidFill>
                          <a:latin typeface="Noto Sans Kr"/>
                          <a:ea typeface="Noto Sans Kr"/>
                          <a:cs typeface="Noto Sans Kr"/>
                          <a:sym typeface="Noto Sans Kr"/>
                        </a:rPr>
                        <a:t>동일 조건의 전체 토큰·지연·비용 계측</a:t>
                      </a:r>
                      <a:endParaRPr lang="en-US" sz="1100"/>
                    </a:p>
                  </a:txBody>
                  <a:tcPr marL="171450" marR="171450" marT="171450" marB="171450" anchor="ctr">
                    <a:lnL cmpd="sng" algn="ctr" cap="flat" w="4762">
                      <a:solidFill>
                        <a:srgbClr val="000000"/>
                      </a:solidFill>
                      <a:prstDash val="solid"/>
                      <a:round/>
                      <a:headEnd type="none" w="med" len="med"/>
                      <a:tailEnd type="none" w="med" len="med"/>
                    </a:lnL>
                    <a:lnR cmpd="sng" algn="ctr" cap="flat" w="14288">
                      <a:solidFill>
                        <a:srgbClr val="D2DBE6"/>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14288">
                      <a:solidFill>
                        <a:srgbClr val="D2DBE6"/>
                      </a:solidFill>
                      <a:prstDash val="solid"/>
                      <a:round/>
                      <a:headEnd type="none" w="med" len="med"/>
                      <a:tailEnd type="none" w="med" len="med"/>
                    </a:lnB>
                    <a:solidFill>
                      <a:srgbClr val="F7F8FA"/>
                    </a:solidFill>
                  </a:tcPr>
                </a:tc>
              </a:tr>
            </a:tbl>
          </a:graphicData>
        </a:graphic>
      </p:graphicFrame>
      <p:sp>
        <p:nvSpPr>
          <p:cNvPr name="TextBox 8" id="8"/>
          <p:cNvSpPr txBox="true"/>
          <p:nvPr/>
        </p:nvSpPr>
        <p:spPr>
          <a:xfrm rot="0">
            <a:off x="914400" y="7858125"/>
            <a:ext cx="2381250" cy="628650"/>
          </a:xfrm>
          <a:prstGeom prst="rect">
            <a:avLst/>
          </a:prstGeom>
        </p:spPr>
        <p:txBody>
          <a:bodyPr anchor="t" rtlCol="false" tIns="0" lIns="0" bIns="0" rIns="0">
            <a:spAutoFit/>
          </a:bodyPr>
          <a:lstStyle/>
          <a:p>
            <a:pPr algn="l">
              <a:lnSpc>
                <a:spcPts val="3869"/>
              </a:lnSpc>
            </a:pPr>
            <a:r>
              <a:rPr lang="en-US" sz="3225" b="true">
                <a:solidFill>
                  <a:srgbClr val="2864DC"/>
                </a:solidFill>
                <a:latin typeface="Noto Sans Bold"/>
                <a:ea typeface="Noto Sans Bold"/>
                <a:cs typeface="Noto Sans Bold"/>
                <a:sym typeface="Noto Sans Bold"/>
              </a:rPr>
              <a:t>수행 소감</a:t>
            </a:r>
          </a:p>
        </p:txBody>
      </p:sp>
      <p:sp>
        <p:nvSpPr>
          <p:cNvPr name="TextBox 9" id="9"/>
          <p:cNvSpPr txBox="true"/>
          <p:nvPr/>
        </p:nvSpPr>
        <p:spPr>
          <a:xfrm rot="0">
            <a:off x="914400" y="8553450"/>
            <a:ext cx="16459200" cy="819150"/>
          </a:xfrm>
          <a:prstGeom prst="rect">
            <a:avLst/>
          </a:prstGeom>
        </p:spPr>
        <p:txBody>
          <a:bodyPr anchor="t" rtlCol="false" tIns="0" lIns="0" bIns="0" rIns="0">
            <a:spAutoFit/>
          </a:bodyPr>
          <a:lstStyle/>
          <a:p>
            <a:pPr algn="l">
              <a:lnSpc>
                <a:spcPts val="3150"/>
              </a:lnSpc>
            </a:pPr>
            <a:r>
              <a:rPr lang="en-US" sz="2625">
                <a:solidFill>
                  <a:srgbClr val="142338"/>
                </a:solidFill>
                <a:latin typeface="Noto Sans Kr"/>
                <a:ea typeface="Noto Sans Kr"/>
                <a:cs typeface="Noto Sans Kr"/>
                <a:sym typeface="Noto Sans Kr"/>
              </a:rPr>
              <a:t>판단 조건과 근거를 남겨야 설명의 변화를 검증할 수 있었습니다.</a:t>
            </a:r>
          </a:p>
          <a:p>
            <a:pPr algn="l">
              <a:lnSpc>
                <a:spcPts val="3150"/>
              </a:lnSpc>
            </a:pPr>
            <a:r>
              <a:rPr lang="en-US" sz="2625">
                <a:solidFill>
                  <a:srgbClr val="142338"/>
                </a:solidFill>
                <a:latin typeface="Noto Sans Kr"/>
                <a:ea typeface="Noto Sans Kr"/>
                <a:cs typeface="Noto Sans Kr"/>
                <a:sym typeface="Noto Sans Kr"/>
              </a:rPr>
              <a:t>입력 거절과 결론 보류에도 이유를 보여주는 설계를 배웠습니다.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DAHYsfUQRzk</dc:identifier>
  <dcterms:modified xsi:type="dcterms:W3CDTF">2011-08-01T06:04:30Z</dcterms:modified>
  <cp:revision>1</cp:revision>
  <dc:title>가설 기반 운영 진단 에이전트_5분발표_정준용</dc:title>
</cp:coreProperties>
</file>